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41a4fad7f449bb" /><Relationship Type="http://schemas.openxmlformats.org/officeDocument/2006/relationships/extended-properties" Target="/docProps/app.xml" Id="Ra11406405eb14210" /><Relationship Type="http://schemas.openxmlformats.org/officeDocument/2006/relationships/officeDocument" Target="/ppt/presentation.xml" Id="Re44b6d7afbf94515" /></Relationships>
</file>

<file path=ppt/presentation.xml><?xml version="1.0" encoding="utf-8"?>
<p:presentation xmlns:p="http://schemas.openxmlformats.org/presentationml/2006/main">
  <p:sldMasterIdLst>
    <p:sldMasterId xmlns:r="http://schemas.openxmlformats.org/officeDocument/2006/relationships" id="2147483648" r:id="R7fc27a936b384916"/>
  </p:sldMasterIdLst>
  <p:notesMasterIdLst>
    <p:notesMasterId xmlns:r="http://schemas.openxmlformats.org/officeDocument/2006/relationships" r:id="R5554e82fffc94793"/>
  </p:notesMasterIdLst>
  <p:sldIdLst>
    <p:sldId xmlns:r="http://schemas.openxmlformats.org/officeDocument/2006/relationships" id="256" r:id="R77246047d4884d82"/>
    <p:sldId xmlns:r="http://schemas.openxmlformats.org/officeDocument/2006/relationships" id="257" r:id="R21ce85b49e334346"/>
    <p:sldId xmlns:r="http://schemas.openxmlformats.org/officeDocument/2006/relationships" id="258" r:id="R13896f433d6c4763"/>
    <p:sldId xmlns:r="http://schemas.openxmlformats.org/officeDocument/2006/relationships" id="259" r:id="R81871543dd064bfd"/>
    <p:sldId xmlns:r="http://schemas.openxmlformats.org/officeDocument/2006/relationships" id="260" r:id="R3b34b45281864c72"/>
    <p:sldId xmlns:r="http://schemas.openxmlformats.org/officeDocument/2006/relationships" id="261" r:id="R079ccd022cc44df3"/>
    <p:sldId xmlns:r="http://schemas.openxmlformats.org/officeDocument/2006/relationships" id="262" r:id="R2ed6fe120a82462b"/>
    <p:sldId xmlns:r="http://schemas.openxmlformats.org/officeDocument/2006/relationships" id="263" r:id="Rf71b969905a0484d"/>
    <p:sldId xmlns:r="http://schemas.openxmlformats.org/officeDocument/2006/relationships" id="264" r:id="R3daf6dab0a1a42f3"/>
    <p:sldId xmlns:r="http://schemas.openxmlformats.org/officeDocument/2006/relationships" id="265" r:id="Rf5b3da22ce9f4b68"/>
    <p:sldId xmlns:r="http://schemas.openxmlformats.org/officeDocument/2006/relationships" id="266" r:id="R14169c676db14eec"/>
    <p:sldId xmlns:r="http://schemas.openxmlformats.org/officeDocument/2006/relationships" id="267" r:id="R038341723d514da2"/>
    <p:sldId xmlns:r="http://schemas.openxmlformats.org/officeDocument/2006/relationships" id="268" r:id="Ra455c03777594eee"/>
    <p:sldId xmlns:r="http://schemas.openxmlformats.org/officeDocument/2006/relationships" id="269" r:id="Rbdf8c3f0a6cd4064"/>
    <p:sldId xmlns:r="http://schemas.openxmlformats.org/officeDocument/2006/relationships" id="270" r:id="Re68223c676e44347"/>
    <p:sldId xmlns:r="http://schemas.openxmlformats.org/officeDocument/2006/relationships" id="271" r:id="R1398f008b52945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193b0b0f7b4ba9" /><Relationship Type="http://schemas.openxmlformats.org/officeDocument/2006/relationships/slideMaster" Target="/ppt/slideMasters/slideMaster1.xml" Id="R7fc27a936b384916" /><Relationship Type="http://schemas.openxmlformats.org/officeDocument/2006/relationships/notesMaster" Target="/ppt/notesMasters/notesMaster1.xml" Id="R5554e82fffc94793" /><Relationship Type="http://schemas.openxmlformats.org/officeDocument/2006/relationships/presProps" Target="/ppt/presProps.xml" Id="R04ecbc0a31e34887" /><Relationship Type="http://schemas.openxmlformats.org/officeDocument/2006/relationships/tableStyles" Target="/ppt/tableStyles.xml" Id="R39dea76547e540f1" /><Relationship Type="http://schemas.openxmlformats.org/officeDocument/2006/relationships/slide" Target="/ppt/slides/slide1.xml" Id="R77246047d4884d82" /><Relationship Type="http://schemas.openxmlformats.org/officeDocument/2006/relationships/slide" Target="/ppt/slides/slide2.xml" Id="R21ce85b49e334346" /><Relationship Type="http://schemas.openxmlformats.org/officeDocument/2006/relationships/slide" Target="/ppt/slides/slide3.xml" Id="R13896f433d6c4763" /><Relationship Type="http://schemas.openxmlformats.org/officeDocument/2006/relationships/slide" Target="/ppt/slides/slide4.xml" Id="R81871543dd064bfd" /><Relationship Type="http://schemas.openxmlformats.org/officeDocument/2006/relationships/slide" Target="/ppt/slides/slide5.xml" Id="R3b34b45281864c72" /><Relationship Type="http://schemas.openxmlformats.org/officeDocument/2006/relationships/slide" Target="/ppt/slides/slide6.xml" Id="R079ccd022cc44df3" /><Relationship Type="http://schemas.openxmlformats.org/officeDocument/2006/relationships/slide" Target="/ppt/slides/slide7.xml" Id="R2ed6fe120a82462b" /><Relationship Type="http://schemas.openxmlformats.org/officeDocument/2006/relationships/slide" Target="/ppt/slides/slide8.xml" Id="Rf71b969905a0484d" /><Relationship Type="http://schemas.openxmlformats.org/officeDocument/2006/relationships/slide" Target="/ppt/slides/slide9.xml" Id="R3daf6dab0a1a42f3" /><Relationship Type="http://schemas.openxmlformats.org/officeDocument/2006/relationships/slide" Target="/ppt/slides/slide10.xml" Id="Rf5b3da22ce9f4b68" /><Relationship Type="http://schemas.openxmlformats.org/officeDocument/2006/relationships/slide" Target="/ppt/slides/slide11.xml" Id="R14169c676db14eec" /><Relationship Type="http://schemas.openxmlformats.org/officeDocument/2006/relationships/slide" Target="/ppt/slides/slide12.xml" Id="R038341723d514da2" /><Relationship Type="http://schemas.openxmlformats.org/officeDocument/2006/relationships/slide" Target="/ppt/slides/slide13.xml" Id="Ra455c03777594eee" /><Relationship Type="http://schemas.openxmlformats.org/officeDocument/2006/relationships/slide" Target="/ppt/slides/slide14.xml" Id="Rbdf8c3f0a6cd4064" /><Relationship Type="http://schemas.openxmlformats.org/officeDocument/2006/relationships/slide" Target="/ppt/slides/slide15.xml" Id="Re68223c676e44347" /><Relationship Type="http://schemas.openxmlformats.org/officeDocument/2006/relationships/slide" Target="/ppt/slides/slide16.xml" Id="R1398f008b52945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e4fc5032624b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3b5362c5cc44d1" /><Relationship Type="http://schemas.openxmlformats.org/officeDocument/2006/relationships/notesMaster" Target="/ppt/notesMasters/notesMaster1.xml" Id="R611d7596edc645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ae032fb0284c09" /><Relationship Type="http://schemas.openxmlformats.org/officeDocument/2006/relationships/notesMaster" Target="/ppt/notesMasters/notesMaster1.xml" Id="R344a3d88a78b47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728efd85ec4c82" /><Relationship Type="http://schemas.openxmlformats.org/officeDocument/2006/relationships/notesMaster" Target="/ppt/notesMasters/notesMaster1.xml" Id="R424065d7ef8a42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132afd62414a5f" /><Relationship Type="http://schemas.openxmlformats.org/officeDocument/2006/relationships/notesMaster" Target="/ppt/notesMasters/notesMaster1.xml" Id="R436844f4cf4e4a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25e950ca204329" /><Relationship Type="http://schemas.openxmlformats.org/officeDocument/2006/relationships/notesMaster" Target="/ppt/notesMasters/notesMaster1.xml" Id="R9636f89cfbf24b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b7edd32e17470a" /><Relationship Type="http://schemas.openxmlformats.org/officeDocument/2006/relationships/notesMaster" Target="/ppt/notesMasters/notesMaster1.xml" Id="Rc0e580e8985449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136391d3ad46ee" /><Relationship Type="http://schemas.openxmlformats.org/officeDocument/2006/relationships/notesMaster" Target="/ppt/notesMasters/notesMaster1.xml" Id="Rc89c390a935043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b8cf38209448f6" /><Relationship Type="http://schemas.openxmlformats.org/officeDocument/2006/relationships/notesMaster" Target="/ppt/notesMasters/notesMaster1.xml" Id="R9fe96f957b8848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237d37cd7b45bd" /><Relationship Type="http://schemas.openxmlformats.org/officeDocument/2006/relationships/notesMaster" Target="/ppt/notesMasters/notesMaster1.xml" Id="R98536297692e4a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74c667f9544218" /><Relationship Type="http://schemas.openxmlformats.org/officeDocument/2006/relationships/notesMaster" Target="/ppt/notesMasters/notesMaster1.xml" Id="R6bff816c8fdb4c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08285b0e2c4a38" /><Relationship Type="http://schemas.openxmlformats.org/officeDocument/2006/relationships/notesMaster" Target="/ppt/notesMasters/notesMaster1.xml" Id="Rf7c915c7d2644f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b306250b6e45eb" /><Relationship Type="http://schemas.openxmlformats.org/officeDocument/2006/relationships/notesMaster" Target="/ppt/notesMasters/notesMaster1.xml" Id="R5fa84a47bf5942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1d41b10e454b41" /><Relationship Type="http://schemas.openxmlformats.org/officeDocument/2006/relationships/notesMaster" Target="/ppt/notesMasters/notesMaster1.xml" Id="R76547ef20b6242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26bc24cb0b410e" /><Relationship Type="http://schemas.openxmlformats.org/officeDocument/2006/relationships/notesMaster" Target="/ppt/notesMasters/notesMaster1.xml" Id="Rbd46166ce5354c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76319bf2494957" /><Relationship Type="http://schemas.openxmlformats.org/officeDocument/2006/relationships/notesMaster" Target="/ppt/notesMasters/notesMaster1.xml" Id="R11763bed487248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2030c1138694807" /><Relationship Type="http://schemas.openxmlformats.org/officeDocument/2006/relationships/notesMaster" Target="/ppt/notesMasters/notesMaster1.xml" Id="R51a09566ed0242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Syed. This update compares the 28 September 2026 supervisor presentation, Git commit 23df560, with project work through commit 168fcc9 on 5 October. Prepared on 6 October 2026. New work concerns explanation, evaluation and system reliability. It does not establish a new profitable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previous deck at docs/presentations/QuantSight_Supervisor_Progress_2026-09-28.pptx, recovered read-only from Git; docs/CHATBOT_AND_XAI.md; docs/research/FINANCE_DEVELOPMENT_STUDY.md; docs/BACKTEST_PERIOD_CONSISTENCY.md; docs/LOADING_AND_RELIABILITY.md; docs/ILLUSTRATED_PROJECT_GUIDE.md. The previous deck already presented original cost-aware backtesting, cloud architecture and the news sentiment pilot. Same-date chatbot and native XAI commits occurred after the presentation commit.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PROJECT_CHEAT_SHEET.md; docs/ILLUSTRATED_PROJECT_GUIDE.md. QuantSight predicts whether the closing price will rise after five trading sessions. The historical universe has 44 instruments. Historical model families are XGBoost, logistic regression, random forest, LSTM with attention, GRU and a separate Transformer encoder. Two input variants create 12 entries plus the four-model probability ensemble. Current live inference remains finance XGBoost with calibration. Saved historical signals end on 20 December 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docs/CHATBOT_AND_XAI.md and docs/XAI_SERVING_PERFORMANCE.md; release a9a5389 and 381183d. Native exact TreeSHAP uses pred_contribs=True and approx_contribs=False. The baseline plus all contributions reconstructs raw UP log-odds. Positive contributions push the raw UP score higher. They are associations, not causal effects or probability-point changes. All 88 latest historical predictions across 44 tickers and two XGBoost variants reproduce saved outputs. Maximum raw reconstruction error is 6.28e-7. The screenshot shows the saved AAPL historical explanation from 20 December 2024, captured locally on 5 October 2026. The endpoint does not explain changing live inputs, LSTM or consensus.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docs/CHATBOT_AND_XAI.md, per-prediction attribution section. AAPL Finance saved date 20 December 2024. Raw P(UP) about 46.49%; sigmoid calibrated P(UP) 55.19%; legacy label SELL. Saved legacy direction follows raw probability at the 50% threshold. Calibration does not retrospectively change that CSV label. TreeSHAP explains raw log-odds only. P(UP) describes an output probability and cannot be reported as measured prediction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docs/CHATBOT_AND_XAI.md; releases 92e3598 and a2a38a1. A retired Groq model caused model_not_found failures. Current configured default in backend code is openai/gpt-oss-120b. GROQ_MODEL can override it. The assistant can request dated project tools for historical signals and indicators. Browser supports Stop and retry; safe provider failures return non-success statuses. Real local and hosted replies were verified on 28 September. The shown local reply was captured on 5 October. Functional success does not establish factual accuracy for every response. No new key or Supabase migration was required for this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docs/research/FINANCE_DEVELOPMENT_STUDY.md; backend/data/research_reports/development_models.json; registration commit 2ce3ac6 before fitting and publication 1308f35. Three fixed families: logistic regression, histogram gradient boosting and XGBoost. Raw and separately sigmoid-calibrated candidates, plus three simple baselines. Thirteen fixed ratio/return inputs from the frozen price snapshot. Validation years 2022, 2023 and 2024, with preceding fit/calibration periods and purged label boundaries. Purging removes earlier rows whose five-session outcomes reach into the next data period. There are 32,472 validation ticker-days, nine predictor fits and nine calibrator fits. The study selection criterion weights yearly Brier scores equally. These development years were previously examined. The candidate 2025 holdout stays unopened pending prior-use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docs/research/FINANCE_DEVELOPMENT_STUDY.md and development_models.json. Equal-year mean results for validation 2022-2024: training-prior baseline accuracy 52.38%, Brier 0.250877; raw logistic 52.53%, 0.251299; raw histogram boosting 52.50%, 0.252198; raw XGBoost 52.54%, 0.251999. Brier is the average squared difference between P(UP) and the actual zero-or-one outcome. Lower Brier is better. Calibration worsens average Brier for all three families. Baseline wins the registered selection rule among all nine outputs. Raw logistic baseline-relative improvement -0.000422 has exploratory paired date-block 95% interval [-0.001329,0.000489], including zero. No candidate replaced live inference. Values differ slightly from pooled metrics on the next slide because this comparison weights each year equally.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docs/research/CONFIDENCE_COVERAGE_AUDIT.md and backend/data/research_reports/development_confidence.json. Fixed diagnostic audit, no new fits. Raw development XGBoost pooled across 2022-2024: 50% threshold retains 32,472 rows, 100% coverage, model accuracy 52.53%, matching baseline 52.38%; 60% retains 4,193 rows, 12.91% coverage, model accuracy 51.51%, same-row baseline 51.49%; 70% retains only 32 rows on 24 dates, 0.10% coverage, both model and matching baseline 62.50%. Every 70% retained prediction is UP and model Brier is worse. Confidence means max(P(UP),1-P(UP)). Pooled row weighting differs from equal-year study means. No cutoff was selected for live use. Overlapping labels and cross-instrument dependence prevent independent-trial interpretations.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docs/BACKTEST_PERIOD_CONSISTENCY.md; backend/data/backtests/period_returns.json. Saved run 20260926T102301904516Z, 462 sessions, 15bps per-side combined commission/slippage. Ensemble 2023 window 22 February-29 December returns 29.40%, SPY 20.60%; 2024 window 2 January-20 December returns 25.18%, SPY 25.78%. Period returns geometrically compound the existing continuous net daily series. No year-boundary portfolio reset or annualization. Ensemble beats SPY in 9 of 23 observed months, 14 months positive, best May 2023 +12.23%, worst April 2024 -8.93%. Both windows are partial years. History was reused during development, so results remain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docs/LOADING_AND_RELIABILITY.md; docs/BACKEND_RELIABILITY.md; docs/XAI_SERVING_PERFORMANCE.md; docs/SERVING_SNAPSHOTS.md. Same-configuration production build reduced initial JS bytes from 1,063,230 to 455,013 (57.2%), gzip from 293,513 to 135,341 (53.9%). Lazy route splitting defers unnecessary page modules; total application JS is not reduced by the same amount. Generation guards and cancellation prevent stale request results replacing new data. Exact prepared XAI has local fresh-process sample 3.884s before/0.124s after for finance; those are diagnostic observations, not controlled production guarantees. Backend separates serving and training dependencies and validates readiness. Compact latest sentiment preserves source-bound results. Cloud scheduling and external providers still influence latency.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docs/research/CONFIDENCE_COVERAGE_AUDIT.md verification 4 October 2026; project deployment configuration and HOW_TO_RUN.md. Last documented release checks: 144 backend tests, seven frontend tests, production build, clean serving smoke, native XAI recomputation, all confidence audit combinations. These counts describe the verified application release on 4 October, not newly rerun tests for this presentation. Later 5 October commits contain documentation. Render API health and tracker read attempts on 6 October timed out at 45 seconds each; current hosted availability therefore remains unverified. Render, Vercel and Supabase do not remove external provider dependency. Supabase migrations require explicit execution and do not automatically run merely from a GitHub push.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backend/data/research/documentation_20261005/captures.json and track-record screenshot; verified local /live-track-record response on 5 October 2026 documented in project guide. Last verified snapshot contains 44 forecasts, all pending, zero resolved; source session 28 September and fifth-session target 5 October. That target has now passed, but the 6 October hosted request timed out, so the current resolution state is unconfirmed. Do not present old pending counts as current or infer success from maturity alone. New mature records must be retrieved and reconciled before reporting live accuracy or Brier. No admin forecast logging or database writes were performed for slide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output/pdf/QuantSight_Project_Guide_2026-10-05.pdf; docs/ILLUSTRATED_PROJECT_GUIDE.md; releases 14c1fa4 and 168fcc9. The final 72-page PDF contains 60 feature screenshot pages, system workflow trees, data preparation, model scope, metric definitions, deployment and local demo instructions. Screenshot evidence includes Dashboard, Market, Stock Detail and native XAI, AI Compare and research diagnostics, Backtesting and downloads, forward tracker, Portfolio, quiz/player leaderboard, authentication/settings and real chat. Historical dates and research limitations are explicit. This deliverable improves documentation, not forecasting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docs/IMPROVEMENT_ROADMAP.md; docs/research/FINANCE_DEVELOPMENT_STUDY.md; docs/research/CONFIDENCE_COVERAGE_AUDIT.md; docs/CHATBOT_AND_XAI.md. These are next milestones rather than completed or approved experiments. Confirm whether 2025 guided any model choice inside or outside this workspace before calling it untouched. Freeze a separately documented prediction and cost-aware strategy procedure before scoring an eligible final period. Historical survivors, adjusted-price provenance and incomplete historical news remain limitations. Forward results need multiple dates and sufficient genuine outcomes. Human evaluation should measure task completion, ease of explanation and chatbot factual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sequence: Stock Detail native XAI, real chatbot, AI Compare finance study and confidence audit, Backtesting year/month breakdown, illustrated documentation. Allow time for cloud wakeup and use the local app if needed. Live URL https://quantsight.vercel.app. Local frontend http://127.0.0.1:3000 with backend as configured in frontend/.env. Services were not running at the initial 6 October read; launch via HOW_TO_RUN.md before the meeting. Local external Yahoo/Groq/Supabase features still need internet. Suggested discussion: agree on final evaluation eligibility, the contribution of rigorous negative findings, and measurable user-testing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3bdc5d091d42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2cab034d9240f2" /><Relationship Type="http://schemas.openxmlformats.org/officeDocument/2006/relationships/slideLayout" Target="/ppt/slideLayouts/slideLayout1.xml" Id="Rf896fd46fb6841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96fd46fb6841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f20a2917854efc" /><Relationship Type="http://schemas.openxmlformats.org/officeDocument/2006/relationships/notesSlide" Target="/ppt/notesSlides/notesSlide1.xml" Id="R8fbe85d75cff4b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85eaff77894185" /><Relationship Type="http://schemas.openxmlformats.org/officeDocument/2006/relationships/notesSlide" Target="/ppt/notesSlides/notesSlide2.xml" Id="Rc3fe55ca48874f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d4aa61b8d94db2" /><Relationship Type="http://schemas.openxmlformats.org/officeDocument/2006/relationships/image" Target="/ppt/media/image.png" Id="Re8299cfbe6644c40" /><Relationship Type="http://schemas.openxmlformats.org/officeDocument/2006/relationships/notesSlide" Target="/ppt/notesSlides/notesSlide3.xml" Id="R93352cd969f846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0c1a78382841cc" /><Relationship Type="http://schemas.openxmlformats.org/officeDocument/2006/relationships/image" Target="/ppt/media/image2.png" Id="R200b15afb7064544" /><Relationship Type="http://schemas.openxmlformats.org/officeDocument/2006/relationships/notesSlide" Target="/ppt/notesSlides/notesSlide4.xml" Id="R09d0445b60bc45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df0ba9fc474ffd" /><Relationship Type="http://schemas.openxmlformats.org/officeDocument/2006/relationships/notesSlide" Target="/ppt/notesSlides/notesSlide5.xml" Id="Rbba7720215ad4a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68e656d1f64a20" /><Relationship Type="http://schemas.openxmlformats.org/officeDocument/2006/relationships/image" Target="/ppt/media/image3.png" Id="Rd11fdf88e1864b61" /><Relationship Type="http://schemas.openxmlformats.org/officeDocument/2006/relationships/notesSlide" Target="/ppt/notesSlides/notesSlide6.xml" Id="Ra3aed9704baf48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f3f6112e8f7491a" /><Relationship Type="http://schemas.openxmlformats.org/officeDocument/2006/relationships/notesSlide" Target="/ppt/notesSlides/notesSlide7.xml" Id="R5fe69396eca94c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89d5092c254086" /><Relationship Type="http://schemas.openxmlformats.org/officeDocument/2006/relationships/notesSlide" Target="/ppt/notesSlides/notesSlide8.xml" Id="R7c946e7bfca145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5fe02912dd44a1f" /><Relationship Type="http://schemas.openxmlformats.org/officeDocument/2006/relationships/notesSlide" Target="/ppt/notesSlides/notesSlide9.xml" Id="Rfc4d41fee9ed49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b913465936c4f78" /><Relationship Type="http://schemas.openxmlformats.org/officeDocument/2006/relationships/chart" Target="/ppt/slides/charts/chart1.xml" Id="R4c6a525d7fc44ede" /><Relationship Type="http://schemas.openxmlformats.org/officeDocument/2006/relationships/notesSlide" Target="/ppt/notesSlides/notesSlide10.xml" Id="R0d25d5ba3acf42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fb650c07f84247" /><Relationship Type="http://schemas.openxmlformats.org/officeDocument/2006/relationships/chart" Target="/ppt/slides/charts/chart2.xml" Id="Rd2e500697dc545b7" /><Relationship Type="http://schemas.openxmlformats.org/officeDocument/2006/relationships/notesSlide" Target="/ppt/notesSlides/notesSlide11.xml" Id="R58cf2ee8533344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760fca198b414c" /><Relationship Type="http://schemas.openxmlformats.org/officeDocument/2006/relationships/notesSlide" Target="/ppt/notesSlides/notesSlide12.xml" Id="R7b04eb31b73440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7d578af28a415f" /><Relationship Type="http://schemas.openxmlformats.org/officeDocument/2006/relationships/notesSlide" Target="/ppt/notesSlides/notesSlide13.xml" Id="R8e48ba6ae83d4b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18d807c0cdf468c" /><Relationship Type="http://schemas.openxmlformats.org/officeDocument/2006/relationships/image" Target="/ppt/media/image4.png" Id="Rc3c60b8e6bde446a" /><Relationship Type="http://schemas.openxmlformats.org/officeDocument/2006/relationships/notesSlide" Target="/ppt/notesSlides/notesSlide14.xml" Id="Rd9846b6a447f4b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57fefab78d044ab" /><Relationship Type="http://schemas.openxmlformats.org/officeDocument/2006/relationships/notesSlide" Target="/ppt/notesSlides/notesSlide15.xml" Id="R697a2f927fd14b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11403d814d24acf" /><Relationship Type="http://schemas.openxmlformats.org/officeDocument/2006/relationships/notesSlide" Target="/ppt/notesSlides/notesSlide16.xml" Id="R58246144147b4f66" /></Relationships>
</file>

<file path=ppt/slides/charts/chart1.xml><?xml version="1.0" encoding="utf-8"?>
<c:chartSpace xmlns:c="http://schemas.openxmlformats.org/drawingml/2006/chart">
  <c:lang val="en-US"/>
  <c:chart>
    <c:plotArea>
      <c:barChart>
        <c:barDir val="col"/>
        <c:grouping val="clustered"/>
        <c:varyColors val="0"/>
        <c:ser>
          <c:idx val="0"/>
          <c:order val="0"/>
          <c:tx>
            <c:v>Ensemble</c:v>
          </c:tx>
          <c:spPr>
            <a:solidFill xmlns:a="http://schemas.openxmlformats.org/drawingml/2006/main">
              <a:srgbClr val="087E8B"/>
            </a:solidFill>
          </c:spPr>
          <c:cat>
            <c:strLit>
              <c:ptCount val="2"/>
              <c:pt idx="0">
                <c:v>2023 observed window</c:v>
              </c:pt>
              <c:pt idx="1">
                <c:v>2024 observed window</c:v>
              </c:pt>
            </c:strLit>
          </c:cat>
          <c:val>
            <c:numLit>
              <c:formatCode>0.00%</c:formatCode>
              <c:ptCount val="2"/>
              <c:pt idx="0">
                <c:v>0.294</c:v>
              </c:pt>
              <c:pt idx="1">
                <c:v>0.2518</c:v>
              </c:pt>
            </c:numLit>
          </c:val>
        </c:ser>
        <c:ser>
          <c:idx val="1"/>
          <c:order val="1"/>
          <c:tx>
            <c:v>SPY</c:v>
          </c:tx>
          <c:spPr>
            <a:solidFill xmlns:a="http://schemas.openxmlformats.org/drawingml/2006/main">
              <a:srgbClr val="778CA1"/>
            </a:solidFill>
          </c:spPr>
          <c:cat>
            <c:strLit>
              <c:ptCount val="2"/>
              <c:pt idx="0">
                <c:v>2023 observed window</c:v>
              </c:pt>
              <c:pt idx="1">
                <c:v>2024 observed window</c:v>
              </c:pt>
            </c:strLit>
          </c:cat>
          <c:val>
            <c:numLit>
              <c:formatCode>0.00%</c:formatCode>
              <c:ptCount val="2"/>
              <c:pt idx="0">
                <c:v>0.206</c:v>
              </c:pt>
              <c:pt idx="1">
                <c:v>0.2578</c:v>
              </c:pt>
            </c:numLit>
          </c:val>
        </c:ser>
        <c:dLbls>
          <c:txPr>
            <a:bodyPr xmlns:a="http://schemas.openxmlformats.org/drawingml/2006/main" anchorCtr="1"/>
            <a:lstStyle xmlns:a="http://schemas.openxmlformats.org/drawingml/2006/main"/>
            <a:p xmlns:a="http://schemas.openxmlformats.org/drawingml/2006/main">
              <a:pPr>
                <a:defRPr sz="1725" b="1">
                  <a:solidFill>
                    <a:srgbClr val="142235"/>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235"/>
                </a:solidFill>
                <a:latin typeface="Arial"/>
                <a:ea typeface="Arial"/>
                <a:cs typeface="Arial"/>
              </a:defRPr>
            </a:pPr>
          </a:p>
        </c:txPr>
        <c:crossAx val="48672768"/>
      </c:catAx>
      <c:valAx>
        <c:axId val="48672768"/>
        <c:scaling>
          <c:orientation val="minMax"/>
          <c:max val="0.35"/>
          <c:min val="0"/>
        </c:scaling>
        <c:delete val="0"/>
        <c:axPos val="l"/>
        <c:majorGridlines>
          <c:spPr>
            <a:ln xmlns:a="http://schemas.openxmlformats.org/drawingml/2006/main" w="9525">
              <a:solidFill>
                <a:srgbClr val="DDE4E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173"/>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42235"/>
              </a:solidFill>
              <a:latin typeface="Arial"/>
              <a:ea typeface="Arial"/>
              <a:cs typeface="Aria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Initial JavaScript (kB)</c:v>
          </c:tx>
          <c:spPr>
            <a:solidFill xmlns:a="http://schemas.openxmlformats.org/drawingml/2006/main">
              <a:srgbClr val="087E8B"/>
            </a:solidFill>
          </c:spPr>
          <c:cat>
            <c:strLit>
              <c:ptCount val="2"/>
              <c:pt idx="0">
                <c:v>Before</c:v>
              </c:pt>
              <c:pt idx="1">
                <c:v>After</c:v>
              </c:pt>
            </c:strLit>
          </c:cat>
          <c:val>
            <c:numLit>
              <c:formatCode>0</c:formatCode>
              <c:ptCount val="2"/>
              <c:pt idx="0">
                <c:v>1063.23</c:v>
              </c:pt>
              <c:pt idx="1">
                <c:v>455.013</c:v>
              </c:pt>
            </c:numLit>
          </c:val>
        </c:ser>
        <c:dLbls>
          <c:txPr>
            <a:bodyPr xmlns:a="http://schemas.openxmlformats.org/drawingml/2006/main" anchorCtr="1"/>
            <a:lstStyle xmlns:a="http://schemas.openxmlformats.org/drawingml/2006/main"/>
            <a:p xmlns:a="http://schemas.openxmlformats.org/drawingml/2006/main">
              <a:pPr>
                <a:defRPr sz="1725" b="1">
                  <a:solidFill>
                    <a:srgbClr val="142235"/>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235"/>
                </a:solidFill>
                <a:latin typeface="Arial"/>
                <a:ea typeface="Arial"/>
                <a:cs typeface="Arial"/>
              </a:defRPr>
            </a:pPr>
          </a:p>
        </c:txPr>
        <c:crossAx val="48672768"/>
      </c:catAx>
      <c:valAx>
        <c:axId val="48672768"/>
        <c:scaling>
          <c:orientation val="minMax"/>
          <c:max val="1200"/>
          <c:min val="0"/>
        </c:scaling>
        <c:delete val="0"/>
        <c:axPos val="l"/>
        <c:majorGridlines>
          <c:spPr>
            <a:ln xmlns:a="http://schemas.openxmlformats.org/drawingml/2006/main" w="9525">
              <a:solidFill>
                <a:srgbClr val="DDE4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173"/>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422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70E8A7-4DB5-4A8C-8275-F2BB13E5C7DE}"/>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QuantSight</a:t>
            </a:r>
          </a:p>
        </p:txBody>
      </p:sp>
      <p:sp>
        <p:nvSpPr>
          <p:cNvPr id="2" name="">
            <a:extLst xmlns:a="http://schemas.openxmlformats.org/drawingml/2006/main">
              <a:ext uri="{FF2B5EF4-FFF2-40B4-BE49-F238E27FC236}">
                <a16:creationId xmlns:a16="http://schemas.microsoft.com/office/drawing/2014/main" id="{C882734D-1413-4CB8-9233-2823A002E7C7}"/>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E5210BDF-6212-4BA7-BA6E-B540AEC97218}"/>
              </a:ext>
            </a:extLst>
          </p:cNvPr>
          <p:cNvSpPr>
            <a:spLocks xmlns:a="http://schemas.openxmlformats.org/drawingml/2006/main" noGrp="1"/>
          </p:cNvSpPr>
          <p:nvPr/>
        </p:nvSpPr>
        <p:spPr>
          <a:xfrm xmlns:a="http://schemas.openxmlformats.org/drawingml/2006/main">
            <a:off x="685800" y="22860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FFFFFF"/>
                </a:solidFill>
                <a:latin typeface="Arial"/>
                <a:ea typeface="Arial"/>
                <a:cs typeface="Arial"/>
              </a:defRPr>
            </a:pPr>
            <a:r>
              <a:rPr sz="3600" b="0">
                <a:solidFill>
                  <a:srgbClr val="FFFFFF"/>
                </a:solidFill>
                <a:latin typeface="Arial"/>
                <a:ea typeface="Arial"/>
                <a:cs typeface="Arial"/>
              </a:rPr>
              <a:t>FYP progress update</a:t>
            </a:r>
          </a:p>
        </p:txBody>
      </p:sp>
      <p:sp>
        <p:nvSpPr>
          <p:cNvPr id="4" name="">
            <a:extLst xmlns:a="http://schemas.openxmlformats.org/drawingml/2006/main">
              <a:ext uri="{FF2B5EF4-FFF2-40B4-BE49-F238E27FC236}">
                <a16:creationId xmlns:a16="http://schemas.microsoft.com/office/drawing/2014/main" id="{C59C8783-CFEE-4180-AA2E-98AAE490F896}"/>
              </a:ext>
            </a:extLst>
          </p:cNvPr>
          <p:cNvSpPr>
            <a:spLocks xmlns:a="http://schemas.openxmlformats.org/drawingml/2006/main" noGrp="1"/>
          </p:cNvSpPr>
          <p:nvPr/>
        </p:nvSpPr>
        <p:spPr>
          <a:xfrm xmlns:a="http://schemas.openxmlformats.org/drawingml/2006/main">
            <a:off x="685800" y="41148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8CD4D0"/>
                </a:solidFill>
                <a:latin typeface="Arial"/>
                <a:ea typeface="Arial"/>
                <a:cs typeface="Arial"/>
              </a:defRPr>
            </a:pPr>
            <a:r>
              <a:rPr sz="2250" b="0">
                <a:solidFill>
                  <a:srgbClr val="8CD4D0"/>
                </a:solidFill>
                <a:latin typeface="Arial"/>
                <a:ea typeface="Arial"/>
                <a:cs typeface="Arial"/>
              </a:rPr>
              <a:t>Syed</a:t>
            </a:r>
          </a:p>
        </p:txBody>
      </p:sp>
      <p:sp>
        <p:nvSpPr>
          <p:cNvPr id="5" name="">
            <a:extLst xmlns:a="http://schemas.openxmlformats.org/drawingml/2006/main">
              <a:ext uri="{FF2B5EF4-FFF2-40B4-BE49-F238E27FC236}">
                <a16:creationId xmlns:a16="http://schemas.microsoft.com/office/drawing/2014/main" id="{70211007-F804-4D6A-B81F-F92B564E1592}"/>
              </a:ext>
            </a:extLst>
          </p:cNvPr>
          <p:cNvSpPr>
            <a:spLocks xmlns:a="http://schemas.openxmlformats.org/drawingml/2006/main" noGrp="1"/>
          </p:cNvSpPr>
          <p:nvPr/>
        </p:nvSpPr>
        <p:spPr>
          <a:xfrm xmlns:a="http://schemas.openxmlformats.org/drawingml/2006/main">
            <a:off x="685800" y="47148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6 October 2026</a:t>
            </a:r>
          </a:p>
        </p:txBody>
      </p:sp>
      <p:sp>
        <p:nvSpPr>
          <p:cNvPr id="6" name="">
            <a:extLst xmlns:a="http://schemas.openxmlformats.org/drawingml/2006/main">
              <a:ext uri="{FF2B5EF4-FFF2-40B4-BE49-F238E27FC236}">
                <a16:creationId xmlns:a16="http://schemas.microsoft.com/office/drawing/2014/main" id="{0214ABBD-05C8-4AE6-95EA-15F253BFF0B9}"/>
              </a:ext>
            </a:extLst>
          </p:cNvPr>
          <p:cNvSpPr>
            <a:spLocks xmlns:a="http://schemas.openxmlformats.org/drawingml/2006/main" noGrp="1"/>
          </p:cNvSpPr>
          <p:nvPr/>
        </p:nvSpPr>
        <p:spPr>
          <a:xfrm xmlns:a="http://schemas.openxmlformats.org/drawingml/2006/main">
            <a:off x="685800" y="5286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9C6D4"/>
                </a:solidFill>
                <a:latin typeface="Arial"/>
                <a:ea typeface="Arial"/>
                <a:cs typeface="Arial"/>
              </a:defRPr>
            </a:pPr>
            <a:r>
              <a:rPr sz="2100" b="0">
                <a:solidFill>
                  <a:srgbClr val="B9C6D4"/>
                </a:solidFill>
                <a:latin typeface="Arial"/>
                <a:ea typeface="Arial"/>
                <a:cs typeface="Arial"/>
              </a:rPr>
              <a:t>Changes since 28 September 2026</a:t>
            </a:r>
          </a:p>
        </p:txBody>
      </p:sp>
    </p:spTree>
    <p:extLst>
      <p:ext uri="{BB962C8B-B14F-4D97-AF65-F5344CB8AC3E}">
        <p14:creationId xmlns:p14="http://schemas.microsoft.com/office/powerpoint/2010/main" val="10302277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EF5795-564F-4C1C-93AF-4B980E31CB1D}"/>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Progress since the previous presentation</a:t>
            </a:r>
          </a:p>
        </p:txBody>
      </p:sp>
      <p:sp>
        <p:nvSpPr>
          <p:cNvPr id="2" name="">
            <a:extLst xmlns:a="http://schemas.openxmlformats.org/drawingml/2006/main">
              <a:ext uri="{FF2B5EF4-FFF2-40B4-BE49-F238E27FC236}">
                <a16:creationId xmlns:a16="http://schemas.microsoft.com/office/drawing/2014/main" id="{B3F920D8-8B73-4223-ADD5-96B5572325CF}"/>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2</a:t>
            </a:r>
          </a:p>
        </p:txBody>
      </p:sp>
      <p:graphicFrame>
        <p:nvGraphicFramePr>
          <p:cNvPr id="7" name=""/>
          <p:cNvGraphicFramePr/>
          <p:nvPr/>
        </p:nvGraphicFramePr>
        <p:xfrm>
          <a:off xmlns:a="http://schemas.openxmlformats.org/drawingml/2006/main" x="685800" y="1524000"/>
          <a:ext xmlns:a="http://schemas.openxmlformats.org/drawingml/2006/main" cx="10820400" cy="4000500"/>
        </p:xfrm>
        <a:graphic xmlns:a="http://schemas.openxmlformats.org/drawingml/2006/main">
          <a:graphicData uri="http://schemas.openxmlformats.org/drawingml/2006/table">
            <a:tbl>
              <a:tblPr/>
              <a:tblGrid>
                <a:gridCol w="2286000"/>
                <a:gridCol w="4143375"/>
                <a:gridCol w="4391025"/>
              </a:tblGrid>
              <a:tr h="800100">
                <a:tc>
                  <a:txBody>
                    <a:bodyPr/>
                    <a:lstStyle/>
                    <a:p>
                      <a:r>
                        <a:rPr sz="1875" b="1">
                          <a:solidFill>
                            <a:srgbClr val="FFFFFF"/>
                          </a:solidFill>
                          <a:latin typeface="Arial"/>
                          <a:ea typeface="Arial"/>
                          <a:cs typeface="Arial"/>
                        </a:rPr>
                        <a:t>Area</a:t>
                      </a:r>
                    </a:p>
                  </a:txBody>
                  <a:tcPr marL="91440" marR="91440" marT="45720" marB="45720">
                    <a:solidFill>
                      <a:srgbClr val="142235"/>
                    </a:solidFill>
                  </a:tcPr>
                </a:tc>
                <a:tc>
                  <a:txBody>
                    <a:bodyPr/>
                    <a:lstStyle/>
                    <a:p>
                      <a:r>
                        <a:rPr sz="1875" b="1">
                          <a:solidFill>
                            <a:srgbClr val="FFFFFF"/>
                          </a:solidFill>
                          <a:latin typeface="Arial"/>
                          <a:ea typeface="Arial"/>
                          <a:cs typeface="Arial"/>
                        </a:rPr>
                        <a:t>28 September presentation</a:t>
                      </a:r>
                    </a:p>
                  </a:txBody>
                  <a:tcPr marL="91440" marR="91440" marT="45720" marB="45720">
                    <a:solidFill>
                      <a:srgbClr val="142235"/>
                    </a:solidFill>
                  </a:tcPr>
                </a:tc>
                <a:tc>
                  <a:txBody>
                    <a:bodyPr/>
                    <a:lstStyle/>
                    <a:p>
                      <a:r>
                        <a:rPr sz="1875" b="1">
                          <a:solidFill>
                            <a:srgbClr val="FFFFFF"/>
                          </a:solidFill>
                          <a:latin typeface="Arial"/>
                          <a:ea typeface="Arial"/>
                          <a:cs typeface="Arial"/>
                        </a:rPr>
                        <a:t>Latest progress</a:t>
                      </a:r>
                    </a:p>
                  </a:txBody>
                  <a:tcPr marL="91440" marR="91440" marT="45720" marB="45720">
                    <a:solidFill>
                      <a:srgbClr val="142235"/>
                    </a:solidFill>
                  </a:tcPr>
                </a:tc>
              </a:tr>
              <a:tr h="800100">
                <a:tc>
                  <a:txBody>
                    <a:bodyPr/>
                    <a:lstStyle/>
                    <a:p>
                      <a:r>
                        <a:rPr sz="1875" b="0">
                          <a:solidFill>
                            <a:srgbClr val="142235"/>
                          </a:solidFill>
                          <a:latin typeface="Arial"/>
                          <a:ea typeface="Arial"/>
                          <a:cs typeface="Arial"/>
                        </a:rPr>
                        <a:t>Explainable AI</a:t>
                      </a:r>
                    </a:p>
                  </a:txBody>
                  <a:tcPr marL="91440" marR="91440" marT="45720" marB="45720">
                    <a:solidFill>
                      <a:srgbClr val="EFF4F5"/>
                    </a:solidFill>
                  </a:tcPr>
                </a:tc>
                <a:tc>
                  <a:txBody>
                    <a:bodyPr/>
                    <a:lstStyle/>
                    <a:p>
                      <a:r>
                        <a:rPr sz="1875" b="0">
                          <a:solidFill>
                            <a:srgbClr val="142235"/>
                          </a:solidFill>
                          <a:latin typeface="Arial"/>
                          <a:ea typeface="Arial"/>
                          <a:cs typeface="Arial"/>
                        </a:rPr>
                        <a:t>Indicator summaries and attention</a:t>
                      </a:r>
                    </a:p>
                  </a:txBody>
                  <a:tcPr marL="91440" marR="91440" marT="45720" marB="45720">
                    <a:solidFill>
                      <a:srgbClr val="EFF4F5"/>
                    </a:solidFill>
                  </a:tcPr>
                </a:tc>
                <a:tc>
                  <a:txBody>
                    <a:bodyPr/>
                    <a:lstStyle/>
                    <a:p>
                      <a:r>
                        <a:rPr sz="1875" b="0">
                          <a:solidFill>
                            <a:srgbClr val="142235"/>
                          </a:solidFill>
                          <a:latin typeface="Arial"/>
                          <a:ea typeface="Arial"/>
                          <a:cs typeface="Arial"/>
                        </a:rPr>
                        <a:t>Exact XGBoost TreeSHAP</a:t>
                      </a:r>
                    </a:p>
                  </a:txBody>
                  <a:tcPr marL="91440" marR="91440" marT="45720" marB="45720">
                    <a:solidFill>
                      <a:srgbClr val="EFF4F5"/>
                    </a:solidFill>
                  </a:tcPr>
                </a:tc>
              </a:tr>
              <a:tr h="800100">
                <a:tc>
                  <a:txBody>
                    <a:bodyPr/>
                    <a:lstStyle/>
                    <a:p>
                      <a:r>
                        <a:rPr sz="1875" b="0">
                          <a:solidFill>
                            <a:srgbClr val="142235"/>
                          </a:solidFill>
                          <a:latin typeface="Arial"/>
                          <a:ea typeface="Arial"/>
                          <a:cs typeface="Arial"/>
                        </a:rPr>
                        <a:t>Model evaluation</a:t>
                      </a:r>
                    </a:p>
                  </a:txBody>
                  <a:tcPr marL="91440" marR="91440" marT="45720" marB="45720">
                    <a:solidFill>
                      <a:srgbClr val="FFFFFF"/>
                    </a:solidFill>
                  </a:tcPr>
                </a:tc>
                <a:tc>
                  <a:txBody>
                    <a:bodyPr/>
                    <a:lstStyle/>
                    <a:p>
                      <a:r>
                        <a:rPr sz="1875" b="0">
                          <a:solidFill>
                            <a:srgbClr val="142235"/>
                          </a:solidFill>
                          <a:latin typeface="Arial"/>
                          <a:ea typeface="Arial"/>
                          <a:cs typeface="Arial"/>
                        </a:rPr>
                        <a:t>News pilot and prepared folds</a:t>
                      </a:r>
                    </a:p>
                  </a:txBody>
                  <a:tcPr marL="91440" marR="91440" marT="45720" marB="45720">
                    <a:solidFill>
                      <a:srgbClr val="FFFFFF"/>
                    </a:solidFill>
                  </a:tcPr>
                </a:tc>
                <a:tc>
                  <a:txBody>
                    <a:bodyPr/>
                    <a:lstStyle/>
                    <a:p>
                      <a:r>
                        <a:rPr sz="1875" b="0">
                          <a:solidFill>
                            <a:srgbClr val="142235"/>
                          </a:solidFill>
                          <a:latin typeface="Arial"/>
                          <a:ea typeface="Arial"/>
                          <a:cs typeface="Arial"/>
                        </a:rPr>
                        <a:t>Finance study and confidence audit</a:t>
                      </a:r>
                    </a:p>
                  </a:txBody>
                  <a:tcPr marL="91440" marR="91440" marT="45720" marB="45720">
                    <a:solidFill>
                      <a:srgbClr val="FFFFFF"/>
                    </a:solidFill>
                  </a:tcPr>
                </a:tc>
              </a:tr>
              <a:tr h="800100">
                <a:tc>
                  <a:txBody>
                    <a:bodyPr/>
                    <a:lstStyle/>
                    <a:p>
                      <a:r>
                        <a:rPr sz="1875" b="0">
                          <a:solidFill>
                            <a:srgbClr val="142235"/>
                          </a:solidFill>
                          <a:latin typeface="Arial"/>
                          <a:ea typeface="Arial"/>
                          <a:cs typeface="Arial"/>
                        </a:rPr>
                        <a:t>Backtesting</a:t>
                      </a:r>
                    </a:p>
                  </a:txBody>
                  <a:tcPr marL="91440" marR="91440" marT="45720" marB="45720">
                    <a:solidFill>
                      <a:srgbClr val="EFF4F5"/>
                    </a:solidFill>
                  </a:tcPr>
                </a:tc>
                <a:tc>
                  <a:txBody>
                    <a:bodyPr/>
                    <a:lstStyle/>
                    <a:p>
                      <a:r>
                        <a:rPr sz="1875" b="0">
                          <a:solidFill>
                            <a:srgbClr val="142235"/>
                          </a:solidFill>
                          <a:latin typeface="Arial"/>
                          <a:ea typeface="Arial"/>
                          <a:cs typeface="Arial"/>
                        </a:rPr>
                        <a:t>Overall returns and costs</a:t>
                      </a:r>
                    </a:p>
                  </a:txBody>
                  <a:tcPr marL="91440" marR="91440" marT="45720" marB="45720">
                    <a:solidFill>
                      <a:srgbClr val="EFF4F5"/>
                    </a:solidFill>
                  </a:tcPr>
                </a:tc>
                <a:tc>
                  <a:txBody>
                    <a:bodyPr/>
                    <a:lstStyle/>
                    <a:p>
                      <a:r>
                        <a:rPr sz="1875" b="0">
                          <a:solidFill>
                            <a:srgbClr val="142235"/>
                          </a:solidFill>
                          <a:latin typeface="Arial"/>
                          <a:ea typeface="Arial"/>
                          <a:cs typeface="Arial"/>
                        </a:rPr>
                        <a:t>Yearly and monthly comparisons</a:t>
                      </a:r>
                    </a:p>
                  </a:txBody>
                  <a:tcPr marL="91440" marR="91440" marT="45720" marB="45720">
                    <a:solidFill>
                      <a:srgbClr val="EFF4F5"/>
                    </a:solidFill>
                  </a:tcPr>
                </a:tc>
              </a:tr>
              <a:tr h="800100">
                <a:tc>
                  <a:txBody>
                    <a:bodyPr/>
                    <a:lstStyle/>
                    <a:p>
                      <a:r>
                        <a:rPr sz="1875" b="0">
                          <a:solidFill>
                            <a:srgbClr val="142235"/>
                          </a:solidFill>
                          <a:latin typeface="Arial"/>
                          <a:ea typeface="Arial"/>
                          <a:cs typeface="Arial"/>
                        </a:rPr>
                        <a:t>System support</a:t>
                      </a:r>
                    </a:p>
                  </a:txBody>
                  <a:tcPr marL="91440" marR="91440" marT="45720" marB="45720">
                    <a:solidFill>
                      <a:srgbClr val="FFFFFF"/>
                    </a:solidFill>
                  </a:tcPr>
                </a:tc>
                <a:tc>
                  <a:txBody>
                    <a:bodyPr/>
                    <a:lstStyle/>
                    <a:p>
                      <a:r>
                        <a:rPr sz="1875" b="0">
                          <a:solidFill>
                            <a:srgbClr val="142235"/>
                          </a:solidFill>
                          <a:latin typeface="Arial"/>
                          <a:ea typeface="Arial"/>
                          <a:cs typeface="Arial"/>
                        </a:rPr>
                        <a:t>Deployment and local backup</a:t>
                      </a:r>
                    </a:p>
                  </a:txBody>
                  <a:tcPr marL="91440" marR="91440" marT="45720" marB="45720">
                    <a:solidFill>
                      <a:srgbClr val="FFFFFF"/>
                    </a:solidFill>
                  </a:tcPr>
                </a:tc>
                <a:tc>
                  <a:txBody>
                    <a:bodyPr/>
                    <a:lstStyle/>
                    <a:p>
                      <a:r>
                        <a:rPr sz="1875" b="0">
                          <a:solidFill>
                            <a:srgbClr val="142235"/>
                          </a:solidFill>
                          <a:latin typeface="Arial"/>
                          <a:ea typeface="Arial"/>
                          <a:cs typeface="Arial"/>
                        </a:rPr>
                        <a:t>Chat repair, faster loading, PDF guide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A198BE9-1251-4E8A-8059-413F6DE829F1}"/>
              </a:ext>
            </a:extLst>
          </p:cNvPr>
          <p:cNvSpPr>
            <a:spLocks xmlns:a="http://schemas.openxmlformats.org/drawingml/2006/main" noGrp="1"/>
          </p:cNvSpPr>
          <p:nvPr/>
        </p:nvSpPr>
        <p:spPr>
          <a:xfrm xmlns:a="http://schemas.openxmlformats.org/drawingml/2006/main">
            <a:off x="685800" y="5867400"/>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E8B"/>
                </a:solidFill>
                <a:latin typeface="Arial"/>
                <a:ea typeface="Arial"/>
                <a:cs typeface="Arial"/>
              </a:defRPr>
            </a:pPr>
            <a:r>
              <a:rPr sz="1800" b="0">
                <a:solidFill>
                  <a:srgbClr val="087E8B"/>
                </a:solidFill>
                <a:latin typeface="Arial"/>
                <a:ea typeface="Arial"/>
                <a:cs typeface="Arial"/>
              </a:rPr>
              <a:t>The latest work adds evidence and reliability. A model gain remains unproven.</a:t>
            </a:r>
          </a:p>
        </p:txBody>
      </p:sp>
    </p:spTree>
    <p:extLst>
      <p:ext uri="{BB962C8B-B14F-4D97-AF65-F5344CB8AC3E}">
        <p14:creationId xmlns:p14="http://schemas.microsoft.com/office/powerpoint/2010/main" val="8999684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A22CDE-ECD7-45F7-ABFC-2DF519DF5576}"/>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Current project scope</a:t>
            </a:r>
          </a:p>
        </p:txBody>
      </p:sp>
      <p:sp>
        <p:nvSpPr>
          <p:cNvPr id="2" name="">
            <a:extLst xmlns:a="http://schemas.openxmlformats.org/drawingml/2006/main">
              <a:ext uri="{FF2B5EF4-FFF2-40B4-BE49-F238E27FC236}">
                <a16:creationId xmlns:a16="http://schemas.microsoft.com/office/drawing/2014/main" id="{92FD0E3F-C0E8-4546-BF8C-DD429BA5873E}"/>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5A57867E-BE26-4991-B7CF-7A4037DB62A2}"/>
              </a:ext>
            </a:extLst>
          </p:cNvPr>
          <p:cNvSpPr>
            <a:spLocks xmlns:a="http://schemas.openxmlformats.org/drawingml/2006/main" noGrp="1"/>
          </p:cNvSpPr>
          <p:nvPr/>
        </p:nvSpPr>
        <p:spPr>
          <a:xfrm xmlns:a="http://schemas.openxmlformats.org/drawingml/2006/main">
            <a:off x="685800" y="1714500"/>
            <a:ext cx="5715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Five-session price-direction forecasts for 44 US instruments</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Historical model comparison and simulation after costs</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Stock explanations, news views and a project chatbot</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Portfolio tools, learning quiz and account features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8299cfbe6644c40"/>
          <a:stretch xmlns:a="http://schemas.openxmlformats.org/drawingml/2006/main"/>
        </p:blipFill>
        <p:spPr>
          <a:xfrm xmlns:a="http://schemas.openxmlformats.org/drawingml/2006/main">
            <a:off x="6810375" y="1612421"/>
            <a:ext cx="4705350" cy="39951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4202362-AEE7-4D0D-9818-C68369B69CAD}"/>
              </a:ext>
            </a:extLst>
          </p:cNvPr>
          <p:cNvSpPr>
            <a:spLocks xmlns:a="http://schemas.openxmlformats.org/drawingml/2006/main" noGrp="1"/>
          </p:cNvSpPr>
          <p:nvPr/>
        </p:nvSpPr>
        <p:spPr>
          <a:xfrm xmlns:a="http://schemas.openxmlformats.org/drawingml/2006/main">
            <a:off x="685800" y="5867400"/>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E8B"/>
                </a:solidFill>
                <a:latin typeface="Arial"/>
                <a:ea typeface="Arial"/>
                <a:cs typeface="Arial"/>
              </a:defRPr>
            </a:pPr>
            <a:r>
              <a:rPr sz="1800" b="0">
                <a:solidFill>
                  <a:srgbClr val="087E8B"/>
                </a:solidFill>
                <a:latin typeface="Arial"/>
                <a:ea typeface="Arial"/>
                <a:cs typeface="Arial"/>
              </a:rPr>
              <a:t>Saved historical results and fresh live forecasts have separate dates.</a:t>
            </a:r>
          </a:p>
        </p:txBody>
      </p:sp>
    </p:spTree>
    <p:extLst>
      <p:ext uri="{BB962C8B-B14F-4D97-AF65-F5344CB8AC3E}">
        <p14:creationId xmlns:p14="http://schemas.microsoft.com/office/powerpoint/2010/main" val="9915469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0C4C69-0D00-482F-ADD7-E42A91E48327}"/>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Exact XGBoost explanations</a:t>
            </a:r>
          </a:p>
        </p:txBody>
      </p:sp>
      <p:sp>
        <p:nvSpPr>
          <p:cNvPr id="2" name="">
            <a:extLst xmlns:a="http://schemas.openxmlformats.org/drawingml/2006/main">
              <a:ext uri="{FF2B5EF4-FFF2-40B4-BE49-F238E27FC236}">
                <a16:creationId xmlns:a16="http://schemas.microsoft.com/office/drawing/2014/main" id="{D281EA7B-1D4B-4058-AA31-74E0A6FEAA1A}"/>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1CF5684E-318A-43A3-9AC7-3FEB3DCEAB6F}"/>
              </a:ext>
            </a:extLst>
          </p:cNvPr>
          <p:cNvSpPr>
            <a:spLocks xmlns:a="http://schemas.openxmlformats.org/drawingml/2006/main" noGrp="1"/>
          </p:cNvSpPr>
          <p:nvPr/>
        </p:nvSpPr>
        <p:spPr>
          <a:xfrm xmlns:a="http://schemas.openxmlformats.org/drawingml/2006/main">
            <a:off x="685800" y="1695450"/>
            <a:ext cx="4476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Shows which inputs move the raw model score</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Verifies all 88 saved XGBoost explanations</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Includes input values and model/source hashes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00b15afb7064544"/>
          <a:stretch xmlns:a="http://schemas.openxmlformats.org/drawingml/2006/main"/>
        </p:blipFill>
        <p:spPr>
          <a:xfrm xmlns:a="http://schemas.openxmlformats.org/drawingml/2006/main">
            <a:off x="5353050" y="1835221"/>
            <a:ext cx="6191250" cy="423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B2E802-0ADB-415A-9C8C-194605CFF32D}"/>
              </a:ext>
            </a:extLst>
          </p:cNvPr>
          <p:cNvSpPr>
            <a:spLocks xmlns:a="http://schemas.openxmlformats.org/drawingml/2006/main" noGrp="1"/>
          </p:cNvSpPr>
          <p:nvPr/>
        </p:nvSpPr>
        <p:spPr>
          <a:xfrm xmlns:a="http://schemas.openxmlformats.org/drawingml/2006/main">
            <a:off x="685800" y="5886450"/>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8611B"/>
                </a:solidFill>
                <a:latin typeface="Arial"/>
                <a:ea typeface="Arial"/>
                <a:cs typeface="Arial"/>
              </a:defRPr>
            </a:pPr>
            <a:r>
              <a:rPr sz="1800" b="0">
                <a:solidFill>
                  <a:srgbClr val="98611B"/>
                </a:solidFill>
                <a:latin typeface="Arial"/>
                <a:ea typeface="Arial"/>
                <a:cs typeface="Arial"/>
              </a:rPr>
              <a:t>Scope: saved historical XGBoost predictions</a:t>
            </a:r>
          </a:p>
        </p:txBody>
      </p:sp>
    </p:spTree>
    <p:extLst>
      <p:ext uri="{BB962C8B-B14F-4D97-AF65-F5344CB8AC3E}">
        <p14:creationId xmlns:p14="http://schemas.microsoft.com/office/powerpoint/2010/main" val="3221054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B8DE83-CA45-4843-8E16-1F468D4E9B1C}"/>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Model probability and direction</a:t>
            </a:r>
          </a:p>
        </p:txBody>
      </p:sp>
      <p:sp>
        <p:nvSpPr>
          <p:cNvPr id="2" name="">
            <a:extLst xmlns:a="http://schemas.openxmlformats.org/drawingml/2006/main">
              <a:ext uri="{FF2B5EF4-FFF2-40B4-BE49-F238E27FC236}">
                <a16:creationId xmlns:a16="http://schemas.microsoft.com/office/drawing/2014/main" id="{2252F8B5-402D-4629-BB09-4A67997C2F33}"/>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5</a:t>
            </a:r>
          </a:p>
        </p:txBody>
      </p:sp>
      <p:graphicFrame>
        <p:nvGraphicFramePr>
          <p:cNvPr id="7" name=""/>
          <p:cNvGraphicFramePr/>
          <p:nvPr/>
        </p:nvGraphicFramePr>
        <p:xfrm>
          <a:off xmlns:a="http://schemas.openxmlformats.org/drawingml/2006/main" x="685800" y="1714500"/>
          <a:ext xmlns:a="http://schemas.openxmlformats.org/drawingml/2006/main" cx="10820400" cy="2952750"/>
        </p:xfrm>
        <a:graphic xmlns:a="http://schemas.openxmlformats.org/drawingml/2006/main">
          <a:graphicData uri="http://schemas.openxmlformats.org/drawingml/2006/table">
            <a:tbl>
              <a:tblPr/>
              <a:tblGrid>
                <a:gridCol w="3905250"/>
                <a:gridCol w="2571750"/>
                <a:gridCol w="4343400"/>
              </a:tblGrid>
              <a:tr h="738188">
                <a:tc>
                  <a:txBody>
                    <a:bodyPr/>
                    <a:lstStyle/>
                    <a:p>
                      <a:r>
                        <a:rPr sz="2100" b="1">
                          <a:solidFill>
                            <a:srgbClr val="FFFFFF"/>
                          </a:solidFill>
                          <a:latin typeface="Arial"/>
                          <a:ea typeface="Arial"/>
                          <a:cs typeface="Arial"/>
                        </a:rPr>
                        <a:t>AAPL Finance</a:t>
                      </a:r>
                    </a:p>
                  </a:txBody>
                  <a:tcPr marL="91440" marR="91440" marT="45720" marB="45720">
                    <a:solidFill>
                      <a:srgbClr val="142235"/>
                    </a:solidFill>
                  </a:tcPr>
                </a:tc>
                <a:tc>
                  <a:txBody>
                    <a:bodyPr/>
                    <a:lstStyle/>
                    <a:p>
                      <a:r>
                        <a:rPr sz="2100" b="1">
                          <a:solidFill>
                            <a:srgbClr val="FFFFFF"/>
                          </a:solidFill>
                          <a:latin typeface="Arial"/>
                          <a:ea typeface="Arial"/>
                          <a:cs typeface="Arial"/>
                        </a:rPr>
                        <a:t>Saved value</a:t>
                      </a:r>
                    </a:p>
                  </a:txBody>
                  <a:tcPr marL="91440" marR="91440" marT="45720" marB="45720">
                    <a:solidFill>
                      <a:srgbClr val="142235"/>
                    </a:solidFill>
                  </a:tcPr>
                </a:tc>
                <a:tc>
                  <a:txBody>
                    <a:bodyPr/>
                    <a:lstStyle/>
                    <a:p>
                      <a:r>
                        <a:rPr sz="2100" b="1">
                          <a:solidFill>
                            <a:srgbClr val="FFFFFF"/>
                          </a:solidFill>
                          <a:latin typeface="Arial"/>
                          <a:ea typeface="Arial"/>
                          <a:cs typeface="Arial"/>
                        </a:rPr>
                        <a:t>Meaning</a:t>
                      </a:r>
                    </a:p>
                  </a:txBody>
                  <a:tcPr marL="91440" marR="91440" marT="45720" marB="45720">
                    <a:solidFill>
                      <a:srgbClr val="142235"/>
                    </a:solidFill>
                  </a:tcPr>
                </a:tc>
              </a:tr>
              <a:tr h="738188">
                <a:tc>
                  <a:txBody>
                    <a:bodyPr/>
                    <a:lstStyle/>
                    <a:p>
                      <a:r>
                        <a:rPr sz="2100" b="0">
                          <a:solidFill>
                            <a:srgbClr val="142235"/>
                          </a:solidFill>
                          <a:latin typeface="Arial"/>
                          <a:ea typeface="Arial"/>
                          <a:cs typeface="Arial"/>
                        </a:rPr>
                        <a:t>Raw P(UP)</a:t>
                      </a:r>
                    </a:p>
                  </a:txBody>
                  <a:tcPr marL="91440" marR="91440" marT="45720" marB="45720">
                    <a:solidFill>
                      <a:srgbClr val="EFF4F5"/>
                    </a:solidFill>
                  </a:tcPr>
                </a:tc>
                <a:tc>
                  <a:txBody>
                    <a:bodyPr/>
                    <a:lstStyle/>
                    <a:p>
                      <a:r>
                        <a:rPr sz="2100" b="0">
                          <a:solidFill>
                            <a:srgbClr val="142235"/>
                          </a:solidFill>
                          <a:latin typeface="Arial"/>
                          <a:ea typeface="Arial"/>
                          <a:cs typeface="Arial"/>
                        </a:rPr>
                        <a:t>46.49%</a:t>
                      </a:r>
                    </a:p>
                  </a:txBody>
                  <a:tcPr marL="91440" marR="91440" marT="45720" marB="45720">
                    <a:solidFill>
                      <a:srgbClr val="EFF4F5"/>
                    </a:solidFill>
                  </a:tcPr>
                </a:tc>
                <a:tc>
                  <a:txBody>
                    <a:bodyPr/>
                    <a:lstStyle/>
                    <a:p>
                      <a:r>
                        <a:rPr sz="2100" b="0">
                          <a:solidFill>
                            <a:srgbClr val="142235"/>
                          </a:solidFill>
                          <a:latin typeface="Arial"/>
                          <a:ea typeface="Arial"/>
                          <a:cs typeface="Arial"/>
                        </a:rPr>
                        <a:t>Determines the saved direction</a:t>
                      </a:r>
                    </a:p>
                  </a:txBody>
                  <a:tcPr marL="91440" marR="91440" marT="45720" marB="45720">
                    <a:solidFill>
                      <a:srgbClr val="EFF4F5"/>
                    </a:solidFill>
                  </a:tcPr>
                </a:tc>
              </a:tr>
              <a:tr h="738188">
                <a:tc>
                  <a:txBody>
                    <a:bodyPr/>
                    <a:lstStyle/>
                    <a:p>
                      <a:r>
                        <a:rPr sz="2100" b="0">
                          <a:solidFill>
                            <a:srgbClr val="142235"/>
                          </a:solidFill>
                          <a:latin typeface="Arial"/>
                          <a:ea typeface="Arial"/>
                          <a:cs typeface="Arial"/>
                        </a:rPr>
                        <a:t>Calibrated P(UP)</a:t>
                      </a:r>
                    </a:p>
                  </a:txBody>
                  <a:tcPr marL="91440" marR="91440" marT="45720" marB="45720">
                    <a:solidFill>
                      <a:srgbClr val="FFFFFF"/>
                    </a:solidFill>
                  </a:tcPr>
                </a:tc>
                <a:tc>
                  <a:txBody>
                    <a:bodyPr/>
                    <a:lstStyle/>
                    <a:p>
                      <a:r>
                        <a:rPr sz="2100" b="0">
                          <a:solidFill>
                            <a:srgbClr val="142235"/>
                          </a:solidFill>
                          <a:latin typeface="Arial"/>
                          <a:ea typeface="Arial"/>
                          <a:cs typeface="Arial"/>
                        </a:rPr>
                        <a:t>55.19%</a:t>
                      </a:r>
                    </a:p>
                  </a:txBody>
                  <a:tcPr marL="91440" marR="91440" marT="45720" marB="45720">
                    <a:solidFill>
                      <a:srgbClr val="FFFFFF"/>
                    </a:solidFill>
                  </a:tcPr>
                </a:tc>
                <a:tc>
                  <a:txBody>
                    <a:bodyPr/>
                    <a:lstStyle/>
                    <a:p>
                      <a:r>
                        <a:rPr sz="2100" b="0">
                          <a:solidFill>
                            <a:srgbClr val="142235"/>
                          </a:solidFill>
                          <a:latin typeface="Arial"/>
                          <a:ea typeface="Arial"/>
                          <a:cs typeface="Arial"/>
                        </a:rPr>
                        <a:t>Separate probability estimate</a:t>
                      </a:r>
                    </a:p>
                  </a:txBody>
                  <a:tcPr marL="91440" marR="91440" marT="45720" marB="45720">
                    <a:solidFill>
                      <a:srgbClr val="FFFFFF"/>
                    </a:solidFill>
                  </a:tcPr>
                </a:tc>
              </a:tr>
              <a:tr h="738188">
                <a:tc>
                  <a:txBody>
                    <a:bodyPr/>
                    <a:lstStyle/>
                    <a:p>
                      <a:r>
                        <a:rPr sz="2100" b="0">
                          <a:solidFill>
                            <a:srgbClr val="142235"/>
                          </a:solidFill>
                          <a:latin typeface="Arial"/>
                          <a:ea typeface="Arial"/>
                          <a:cs typeface="Arial"/>
                        </a:rPr>
                        <a:t>Saved direction</a:t>
                      </a:r>
                    </a:p>
                  </a:txBody>
                  <a:tcPr marL="91440" marR="91440" marT="45720" marB="45720">
                    <a:solidFill>
                      <a:srgbClr val="EFF4F5"/>
                    </a:solidFill>
                  </a:tcPr>
                </a:tc>
                <a:tc>
                  <a:txBody>
                    <a:bodyPr/>
                    <a:lstStyle/>
                    <a:p>
                      <a:r>
                        <a:rPr sz="2100" b="0">
                          <a:solidFill>
                            <a:srgbClr val="142235"/>
                          </a:solidFill>
                          <a:latin typeface="Arial"/>
                          <a:ea typeface="Arial"/>
                          <a:cs typeface="Arial"/>
                        </a:rPr>
                        <a:t>SELL</a:t>
                      </a:r>
                    </a:p>
                  </a:txBody>
                  <a:tcPr marL="91440" marR="91440" marT="45720" marB="45720">
                    <a:solidFill>
                      <a:srgbClr val="EFF4F5"/>
                    </a:solidFill>
                  </a:tcPr>
                </a:tc>
                <a:tc>
                  <a:txBody>
                    <a:bodyPr/>
                    <a:lstStyle/>
                    <a:p>
                      <a:r>
                        <a:rPr sz="2100" b="0">
                          <a:solidFill>
                            <a:srgbClr val="142235"/>
                          </a:solidFill>
                          <a:latin typeface="Arial"/>
                          <a:ea typeface="Arial"/>
                          <a:cs typeface="Arial"/>
                        </a:rPr>
                        <a:t>Raw P(UP) is below 50%</a:t>
                      </a:r>
                    </a:p>
                  </a:txBody>
                  <a:tcPr marL="91440" marR="91440" marT="45720" marB="45720">
                    <a:solidFill>
                      <a:srgbClr val="EFF4F5"/>
                    </a:solidFill>
                  </a:tcPr>
                </a:tc>
              </a:tr>
            </a:tbl>
          </a:graphicData>
        </a:graphic>
      </p:graphicFrame>
      <p:sp>
        <p:nvSpPr>
          <p:cNvPr id="4" name="">
            <a:extLst xmlns:a="http://schemas.openxmlformats.org/drawingml/2006/main">
              <a:ext uri="{FF2B5EF4-FFF2-40B4-BE49-F238E27FC236}">
                <a16:creationId xmlns:a16="http://schemas.microsoft.com/office/drawing/2014/main" id="{DC54EFAE-53CE-48BF-A982-4FF4596406FF}"/>
              </a:ext>
            </a:extLst>
          </p:cNvPr>
          <p:cNvSpPr>
            <a:spLocks xmlns:a="http://schemas.openxmlformats.org/drawingml/2006/main" noGrp="1"/>
          </p:cNvSpPr>
          <p:nvPr/>
        </p:nvSpPr>
        <p:spPr>
          <a:xfrm xmlns:a="http://schemas.openxmlformats.org/drawingml/2006/main">
            <a:off x="685800" y="50482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Probability, observed accuracy and trading return measure different things</a:t>
            </a:r>
          </a:p>
        </p:txBody>
      </p:sp>
    </p:spTree>
    <p:extLst>
      <p:ext uri="{BB962C8B-B14F-4D97-AF65-F5344CB8AC3E}">
        <p14:creationId xmlns:p14="http://schemas.microsoft.com/office/powerpoint/2010/main" val="4625908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0EC5A3-6861-4E29-9C02-8F7E520039CE}"/>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Chatbot repair</a:t>
            </a:r>
          </a:p>
        </p:txBody>
      </p:sp>
      <p:sp>
        <p:nvSpPr>
          <p:cNvPr id="2" name="">
            <a:extLst xmlns:a="http://schemas.openxmlformats.org/drawingml/2006/main">
              <a:ext uri="{FF2B5EF4-FFF2-40B4-BE49-F238E27FC236}">
                <a16:creationId xmlns:a16="http://schemas.microsoft.com/office/drawing/2014/main" id="{70CD4EAA-3557-4D44-8834-DBB03C6C6369}"/>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0223974D-62E6-4EE3-B63B-94D6610DA42C}"/>
              </a:ext>
            </a:extLst>
          </p:cNvPr>
          <p:cNvSpPr>
            <a:spLocks xmlns:a="http://schemas.openxmlformats.org/drawingml/2006/main" noGrp="1"/>
          </p:cNvSpPr>
          <p:nvPr/>
        </p:nvSpPr>
        <p:spPr>
          <a:xfrm xmlns:a="http://schemas.openxmlformats.org/drawingml/2006/main">
            <a:off x="685800" y="1752600"/>
            <a:ext cx="638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Replaced the retired provider model</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Retrieves dated QuantSight evidence</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Added Stop, retry and readable failure messages</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Generated answers still need factual checks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11fdf88e1864b61"/>
          <a:stretch xmlns:a="http://schemas.openxmlformats.org/drawingml/2006/main"/>
        </p:blipFill>
        <p:spPr>
          <a:xfrm xmlns:a="http://schemas.openxmlformats.org/drawingml/2006/main">
            <a:off x="7810500" y="1362869"/>
            <a:ext cx="3562350" cy="5046662"/>
          </a:xfrm>
          <a:prstGeom xmlns:a="http://schemas.openxmlformats.org/drawingml/2006/main" prst="rect">
            <a:avLst/>
          </a:prstGeom>
        </p:spPr>
      </p:pic>
    </p:spTree>
    <p:extLst>
      <p:ext uri="{BB962C8B-B14F-4D97-AF65-F5344CB8AC3E}">
        <p14:creationId xmlns:p14="http://schemas.microsoft.com/office/powerpoint/2010/main" val="6664341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0B05E5-D10E-4334-94D2-032D5A296D7B}"/>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Controlled finance-model study</a:t>
            </a:r>
          </a:p>
        </p:txBody>
      </p:sp>
      <p:sp>
        <p:nvSpPr>
          <p:cNvPr id="2" name="">
            <a:extLst xmlns:a="http://schemas.openxmlformats.org/drawingml/2006/main">
              <a:ext uri="{FF2B5EF4-FFF2-40B4-BE49-F238E27FC236}">
                <a16:creationId xmlns:a16="http://schemas.microsoft.com/office/drawing/2014/main" id="{48FA8608-696A-407E-8B6D-97253E1A1FC3}"/>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CFFAB407-4876-4208-B531-1A77907F1009}"/>
              </a:ext>
            </a:extLst>
          </p:cNvPr>
          <p:cNvSpPr>
            <a:spLocks xmlns:a="http://schemas.openxmlformats.org/drawingml/2006/main" noGrp="1"/>
          </p:cNvSpPr>
          <p:nvPr/>
        </p:nvSpPr>
        <p:spPr>
          <a:xfrm xmlns:a="http://schemas.openxmlformats.org/drawingml/2006/main">
            <a:off x="685800" y="1581150"/>
            <a:ext cx="1082040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325" b="0">
                <a:solidFill>
                  <a:srgbClr val="142235"/>
                </a:solidFill>
                <a:latin typeface="Arial"/>
                <a:ea typeface="Arial"/>
                <a:cs typeface="Arial"/>
              </a:defRPr>
            </a:pPr>
            <a:r>
              <a:rPr sz="2325" b="0">
                <a:solidFill>
                  <a:srgbClr val="142235"/>
                </a:solidFill>
                <a:latin typeface="Arial"/>
                <a:ea typeface="Arial"/>
                <a:cs typeface="Arial"/>
              </a:rPr>
              <a:t>Compared three fixed model families with simple baselines</a:t>
            </a:r>
          </a:p>
          <a:p xmlns:a="http://schemas.openxmlformats.org/drawingml/2006/main">
            <a:pPr marL="254000" indent="-127000">
              <a:spcAft>
                <a:spcPts val="1800"/>
              </a:spcAft>
              <a:buChar char="•"/>
              <a:defRPr sz="2325" b="0">
                <a:solidFill>
                  <a:srgbClr val="142235"/>
                </a:solidFill>
                <a:latin typeface="Arial"/>
                <a:ea typeface="Arial"/>
                <a:cs typeface="Arial"/>
              </a:defRPr>
            </a:pPr>
            <a:r>
              <a:rPr sz="2325" b="0">
                <a:solidFill>
                  <a:srgbClr val="142235"/>
                </a:solidFill>
                <a:latin typeface="Arial"/>
                <a:ea typeface="Arial"/>
                <a:cs typeface="Arial"/>
              </a:rPr>
              <a:t>Used 13 finance inputs and three chronological validation years</a:t>
            </a:r>
          </a:p>
          <a:p xmlns:a="http://schemas.openxmlformats.org/drawingml/2006/main">
            <a:pPr marL="254000" indent="-127000">
              <a:spcAft>
                <a:spcPts val="1800"/>
              </a:spcAft>
              <a:buChar char="•"/>
              <a:defRPr sz="2325" b="0">
                <a:solidFill>
                  <a:srgbClr val="142235"/>
                </a:solidFill>
                <a:latin typeface="Arial"/>
                <a:ea typeface="Arial"/>
                <a:cs typeface="Arial"/>
              </a:defRPr>
            </a:pPr>
            <a:r>
              <a:rPr sz="2325" b="0">
                <a:solidFill>
                  <a:srgbClr val="142235"/>
                </a:solidFill>
                <a:latin typeface="Arial"/>
                <a:ea typeface="Arial"/>
                <a:cs typeface="Arial"/>
              </a:rPr>
              <a:t>Evaluated 32,472 ticker-days with purged boundaries</a:t>
            </a:r>
          </a:p>
          <a:p xmlns:a="http://schemas.openxmlformats.org/drawingml/2006/main">
            <a:pPr marL="254000" indent="-127000">
              <a:spcAft>
                <a:spcPts val="1800"/>
              </a:spcAft>
              <a:buChar char="•"/>
              <a:defRPr sz="2325" b="0">
                <a:solidFill>
                  <a:srgbClr val="142235"/>
                </a:solidFill>
                <a:latin typeface="Arial"/>
                <a:ea typeface="Arial"/>
                <a:cs typeface="Arial"/>
              </a:defRPr>
            </a:pPr>
            <a:r>
              <a:rPr sz="2325" b="0">
                <a:solidFill>
                  <a:srgbClr val="142235"/>
                </a:solidFill>
                <a:latin typeface="Arial"/>
                <a:ea typeface="Arial"/>
                <a:cs typeface="Arial"/>
              </a:rPr>
              <a:t>Kept raw and calibrated probabilities separate</a:t>
            </a:r>
          </a:p>
        </p:txBody>
      </p:sp>
      <p:sp>
        <p:nvSpPr>
          <p:cNvPr id="4" name="">
            <a:extLst xmlns:a="http://schemas.openxmlformats.org/drawingml/2006/main">
              <a:ext uri="{FF2B5EF4-FFF2-40B4-BE49-F238E27FC236}">
                <a16:creationId xmlns:a16="http://schemas.microsoft.com/office/drawing/2014/main" id="{D4270C48-746D-4B80-9BF8-1B091BA9E5A6}"/>
              </a:ext>
            </a:extLst>
          </p:cNvPr>
          <p:cNvSpPr>
            <a:spLocks xmlns:a="http://schemas.openxmlformats.org/drawingml/2006/main" noGrp="1"/>
          </p:cNvSpPr>
          <p:nvPr/>
        </p:nvSpPr>
        <p:spPr>
          <a:xfrm xmlns:a="http://schemas.openxmlformats.org/drawingml/2006/main">
            <a:off x="685800" y="5553075"/>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8611B"/>
                </a:solidFill>
                <a:latin typeface="Arial"/>
                <a:ea typeface="Arial"/>
                <a:cs typeface="Arial"/>
              </a:defRPr>
            </a:pPr>
            <a:r>
              <a:rPr sz="1800" b="0">
                <a:solidFill>
                  <a:srgbClr val="98611B"/>
                </a:solidFill>
                <a:latin typeface="Arial"/>
                <a:ea typeface="Arial"/>
                <a:cs typeface="Arial"/>
              </a:rPr>
              <a:t>The 2025 candidate final-test period remains unopened.</a:t>
            </a:r>
          </a:p>
        </p:txBody>
      </p:sp>
    </p:spTree>
    <p:extLst>
      <p:ext uri="{BB962C8B-B14F-4D97-AF65-F5344CB8AC3E}">
        <p14:creationId xmlns:p14="http://schemas.microsoft.com/office/powerpoint/2010/main" val="1166800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7DCE56-F142-4AEE-B072-4A247DAB9340}"/>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The finance study did not beat the baseline</a:t>
            </a:r>
          </a:p>
        </p:txBody>
      </p:sp>
      <p:sp>
        <p:nvSpPr>
          <p:cNvPr id="2" name="">
            <a:extLst xmlns:a="http://schemas.openxmlformats.org/drawingml/2006/main">
              <a:ext uri="{FF2B5EF4-FFF2-40B4-BE49-F238E27FC236}">
                <a16:creationId xmlns:a16="http://schemas.microsoft.com/office/drawing/2014/main" id="{673C5A42-481B-4D69-8D9C-AF6C89E64AB3}"/>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8</a:t>
            </a:r>
          </a:p>
        </p:txBody>
      </p:sp>
      <p:graphicFrame>
        <p:nvGraphicFramePr>
          <p:cNvPr id="7" name=""/>
          <p:cNvGraphicFramePr/>
          <p:nvPr/>
        </p:nvGraphicFramePr>
        <p:xfrm>
          <a:off xmlns:a="http://schemas.openxmlformats.org/drawingml/2006/main" x="685800" y="1581150"/>
          <a:ext xmlns:a="http://schemas.openxmlformats.org/drawingml/2006/main" cx="10820400" cy="3333750"/>
        </p:xfrm>
        <a:graphic xmlns:a="http://schemas.openxmlformats.org/drawingml/2006/main">
          <a:graphicData uri="http://schemas.openxmlformats.org/drawingml/2006/table">
            <a:tbl>
              <a:tblPr/>
              <a:tblGrid>
                <a:gridCol w="5391150"/>
                <a:gridCol w="2476500"/>
                <a:gridCol w="2952750"/>
              </a:tblGrid>
              <a:tr h="666750">
                <a:tc>
                  <a:txBody>
                    <a:bodyPr/>
                    <a:lstStyle/>
                    <a:p>
                      <a:r>
                        <a:rPr sz="2100" b="1">
                          <a:solidFill>
                            <a:srgbClr val="FFFFFF"/>
                          </a:solidFill>
                          <a:latin typeface="Arial"/>
                          <a:ea typeface="Arial"/>
                          <a:cs typeface="Arial"/>
                        </a:rPr>
                        <a:t>Output</a:t>
                      </a:r>
                    </a:p>
                  </a:txBody>
                  <a:tcPr marL="91440" marR="91440" marT="45720" marB="45720">
                    <a:solidFill>
                      <a:srgbClr val="142235"/>
                    </a:solidFill>
                  </a:tcPr>
                </a:tc>
                <a:tc>
                  <a:txBody>
                    <a:bodyPr/>
                    <a:lstStyle/>
                    <a:p>
                      <a:r>
                        <a:rPr sz="2100" b="1">
                          <a:solidFill>
                            <a:srgbClr val="FFFFFF"/>
                          </a:solidFill>
                          <a:latin typeface="Arial"/>
                          <a:ea typeface="Arial"/>
                          <a:cs typeface="Arial"/>
                        </a:rPr>
                        <a:t>Accuracy</a:t>
                      </a:r>
                    </a:p>
                  </a:txBody>
                  <a:tcPr marL="91440" marR="91440" marT="45720" marB="45720">
                    <a:solidFill>
                      <a:srgbClr val="142235"/>
                    </a:solidFill>
                  </a:tcPr>
                </a:tc>
                <a:tc>
                  <a:txBody>
                    <a:bodyPr/>
                    <a:lstStyle/>
                    <a:p>
                      <a:r>
                        <a:rPr sz="2100" b="1">
                          <a:solidFill>
                            <a:srgbClr val="FFFFFF"/>
                          </a:solidFill>
                          <a:latin typeface="Arial"/>
                          <a:ea typeface="Arial"/>
                          <a:cs typeface="Arial"/>
                        </a:rPr>
                        <a:t>Brier loss</a:t>
                      </a:r>
                    </a:p>
                  </a:txBody>
                  <a:tcPr marL="91440" marR="91440" marT="45720" marB="45720">
                    <a:solidFill>
                      <a:srgbClr val="142235"/>
                    </a:solidFill>
                  </a:tcPr>
                </a:tc>
              </a:tr>
              <a:tr h="666750">
                <a:tc>
                  <a:txBody>
                    <a:bodyPr/>
                    <a:lstStyle/>
                    <a:p>
                      <a:r>
                        <a:rPr sz="2100" b="0">
                          <a:solidFill>
                            <a:srgbClr val="142235"/>
                          </a:solidFill>
                          <a:latin typeface="Arial"/>
                          <a:ea typeface="Arial"/>
                          <a:cs typeface="Arial"/>
                        </a:rPr>
                        <a:t>Training-prior baseline</a:t>
                      </a:r>
                    </a:p>
                  </a:txBody>
                  <a:tcPr marL="91440" marR="91440" marT="45720" marB="45720">
                    <a:solidFill>
                      <a:srgbClr val="EFF4F5"/>
                    </a:solidFill>
                  </a:tcPr>
                </a:tc>
                <a:tc>
                  <a:txBody>
                    <a:bodyPr/>
                    <a:lstStyle/>
                    <a:p>
                      <a:r>
                        <a:rPr sz="2100" b="0">
                          <a:solidFill>
                            <a:srgbClr val="142235"/>
                          </a:solidFill>
                          <a:latin typeface="Arial"/>
                          <a:ea typeface="Arial"/>
                          <a:cs typeface="Arial"/>
                        </a:rPr>
                        <a:t>52.38%</a:t>
                      </a:r>
                    </a:p>
                  </a:txBody>
                  <a:tcPr marL="91440" marR="91440" marT="45720" marB="45720">
                    <a:solidFill>
                      <a:srgbClr val="EFF4F5"/>
                    </a:solidFill>
                  </a:tcPr>
                </a:tc>
                <a:tc>
                  <a:txBody>
                    <a:bodyPr/>
                    <a:lstStyle/>
                    <a:p>
                      <a:r>
                        <a:rPr sz="2100" b="0">
                          <a:solidFill>
                            <a:srgbClr val="142235"/>
                          </a:solidFill>
                          <a:latin typeface="Arial"/>
                          <a:ea typeface="Arial"/>
                          <a:cs typeface="Arial"/>
                        </a:rPr>
                        <a:t>0.250877</a:t>
                      </a:r>
                    </a:p>
                  </a:txBody>
                  <a:tcPr marL="91440" marR="91440" marT="45720" marB="45720">
                    <a:solidFill>
                      <a:srgbClr val="EFF4F5"/>
                    </a:solidFill>
                  </a:tcPr>
                </a:tc>
              </a:tr>
              <a:tr h="666750">
                <a:tc>
                  <a:txBody>
                    <a:bodyPr/>
                    <a:lstStyle/>
                    <a:p>
                      <a:r>
                        <a:rPr sz="2100" b="0">
                          <a:solidFill>
                            <a:srgbClr val="142235"/>
                          </a:solidFill>
                          <a:latin typeface="Arial"/>
                          <a:ea typeface="Arial"/>
                          <a:cs typeface="Arial"/>
                        </a:rPr>
                        <a:t>Logistic regression, raw</a:t>
                      </a:r>
                    </a:p>
                  </a:txBody>
                  <a:tcPr marL="91440" marR="91440" marT="45720" marB="45720">
                    <a:solidFill>
                      <a:srgbClr val="FFFFFF"/>
                    </a:solidFill>
                  </a:tcPr>
                </a:tc>
                <a:tc>
                  <a:txBody>
                    <a:bodyPr/>
                    <a:lstStyle/>
                    <a:p>
                      <a:r>
                        <a:rPr sz="2100" b="0">
                          <a:solidFill>
                            <a:srgbClr val="142235"/>
                          </a:solidFill>
                          <a:latin typeface="Arial"/>
                          <a:ea typeface="Arial"/>
                          <a:cs typeface="Arial"/>
                        </a:rPr>
                        <a:t>52.53%</a:t>
                      </a:r>
                    </a:p>
                  </a:txBody>
                  <a:tcPr marL="91440" marR="91440" marT="45720" marB="45720">
                    <a:solidFill>
                      <a:srgbClr val="FFFFFF"/>
                    </a:solidFill>
                  </a:tcPr>
                </a:tc>
                <a:tc>
                  <a:txBody>
                    <a:bodyPr/>
                    <a:lstStyle/>
                    <a:p>
                      <a:r>
                        <a:rPr sz="2100" b="0">
                          <a:solidFill>
                            <a:srgbClr val="142235"/>
                          </a:solidFill>
                          <a:latin typeface="Arial"/>
                          <a:ea typeface="Arial"/>
                          <a:cs typeface="Arial"/>
                        </a:rPr>
                        <a:t>0.251299</a:t>
                      </a:r>
                    </a:p>
                  </a:txBody>
                  <a:tcPr marL="91440" marR="91440" marT="45720" marB="45720">
                    <a:solidFill>
                      <a:srgbClr val="FFFFFF"/>
                    </a:solidFill>
                  </a:tcPr>
                </a:tc>
              </a:tr>
              <a:tr h="666750">
                <a:tc>
                  <a:txBody>
                    <a:bodyPr/>
                    <a:lstStyle/>
                    <a:p>
                      <a:r>
                        <a:rPr sz="2100" b="0">
                          <a:solidFill>
                            <a:srgbClr val="142235"/>
                          </a:solidFill>
                          <a:latin typeface="Arial"/>
                          <a:ea typeface="Arial"/>
                          <a:cs typeface="Arial"/>
                        </a:rPr>
                        <a:t>Histogram boosting, raw</a:t>
                      </a:r>
                    </a:p>
                  </a:txBody>
                  <a:tcPr marL="91440" marR="91440" marT="45720" marB="45720">
                    <a:solidFill>
                      <a:srgbClr val="EFF4F5"/>
                    </a:solidFill>
                  </a:tcPr>
                </a:tc>
                <a:tc>
                  <a:txBody>
                    <a:bodyPr/>
                    <a:lstStyle/>
                    <a:p>
                      <a:r>
                        <a:rPr sz="2100" b="0">
                          <a:solidFill>
                            <a:srgbClr val="142235"/>
                          </a:solidFill>
                          <a:latin typeface="Arial"/>
                          <a:ea typeface="Arial"/>
                          <a:cs typeface="Arial"/>
                        </a:rPr>
                        <a:t>52.50%</a:t>
                      </a:r>
                    </a:p>
                  </a:txBody>
                  <a:tcPr marL="91440" marR="91440" marT="45720" marB="45720">
                    <a:solidFill>
                      <a:srgbClr val="EFF4F5"/>
                    </a:solidFill>
                  </a:tcPr>
                </a:tc>
                <a:tc>
                  <a:txBody>
                    <a:bodyPr/>
                    <a:lstStyle/>
                    <a:p>
                      <a:r>
                        <a:rPr sz="2100" b="0">
                          <a:solidFill>
                            <a:srgbClr val="142235"/>
                          </a:solidFill>
                          <a:latin typeface="Arial"/>
                          <a:ea typeface="Arial"/>
                          <a:cs typeface="Arial"/>
                        </a:rPr>
                        <a:t>0.252198</a:t>
                      </a:r>
                    </a:p>
                  </a:txBody>
                  <a:tcPr marL="91440" marR="91440" marT="45720" marB="45720">
                    <a:solidFill>
                      <a:srgbClr val="EFF4F5"/>
                    </a:solidFill>
                  </a:tcPr>
                </a:tc>
              </a:tr>
              <a:tr h="666750">
                <a:tc>
                  <a:txBody>
                    <a:bodyPr/>
                    <a:lstStyle/>
                    <a:p>
                      <a:r>
                        <a:rPr sz="2100" b="0">
                          <a:solidFill>
                            <a:srgbClr val="142235"/>
                          </a:solidFill>
                          <a:latin typeface="Arial"/>
                          <a:ea typeface="Arial"/>
                          <a:cs typeface="Arial"/>
                        </a:rPr>
                        <a:t>XGBoost, raw</a:t>
                      </a:r>
                    </a:p>
                  </a:txBody>
                  <a:tcPr marL="91440" marR="91440" marT="45720" marB="45720">
                    <a:solidFill>
                      <a:srgbClr val="FFFFFF"/>
                    </a:solidFill>
                  </a:tcPr>
                </a:tc>
                <a:tc>
                  <a:txBody>
                    <a:bodyPr/>
                    <a:lstStyle/>
                    <a:p>
                      <a:r>
                        <a:rPr sz="2100" b="0">
                          <a:solidFill>
                            <a:srgbClr val="142235"/>
                          </a:solidFill>
                          <a:latin typeface="Arial"/>
                          <a:ea typeface="Arial"/>
                          <a:cs typeface="Arial"/>
                        </a:rPr>
                        <a:t>52.54%</a:t>
                      </a:r>
                    </a:p>
                  </a:txBody>
                  <a:tcPr marL="91440" marR="91440" marT="45720" marB="45720">
                    <a:solidFill>
                      <a:srgbClr val="FFFFFF"/>
                    </a:solidFill>
                  </a:tcPr>
                </a:tc>
                <a:tc>
                  <a:txBody>
                    <a:bodyPr/>
                    <a:lstStyle/>
                    <a:p>
                      <a:r>
                        <a:rPr sz="2100" b="0">
                          <a:solidFill>
                            <a:srgbClr val="142235"/>
                          </a:solidFill>
                          <a:latin typeface="Arial"/>
                          <a:ea typeface="Arial"/>
                          <a:cs typeface="Arial"/>
                        </a:rPr>
                        <a:t>0.251999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DC53FA0-7178-479F-9974-73A275F543C1}"/>
              </a:ext>
            </a:extLst>
          </p:cNvPr>
          <p:cNvSpPr>
            <a:spLocks xmlns:a="http://schemas.openxmlformats.org/drawingml/2006/main" noGrp="1"/>
          </p:cNvSpPr>
          <p:nvPr/>
        </p:nvSpPr>
        <p:spPr>
          <a:xfrm xmlns:a="http://schemas.openxmlformats.org/drawingml/2006/main">
            <a:off x="685800" y="52578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025" b="0">
                <a:solidFill>
                  <a:srgbClr val="142235"/>
                </a:solidFill>
                <a:latin typeface="Arial"/>
                <a:ea typeface="Arial"/>
                <a:cs typeface="Arial"/>
              </a:defRPr>
            </a:pPr>
            <a:r>
              <a:rPr sz="2025" b="0">
                <a:solidFill>
                  <a:srgbClr val="142235"/>
                </a:solidFill>
                <a:latin typeface="Arial"/>
                <a:ea typeface="Arial"/>
                <a:cs typeface="Arial"/>
              </a:rPr>
              <a:t>Lower Brier is better. The baseline wins the selection rule.</a:t>
            </a:r>
          </a:p>
          <a:p xmlns:a="http://schemas.openxmlformats.org/drawingml/2006/main">
            <a:pPr marL="254000" indent="-127000">
              <a:spcAft>
                <a:spcPts val="1800"/>
              </a:spcAft>
              <a:buChar char="•"/>
              <a:defRPr sz="2025" b="0">
                <a:solidFill>
                  <a:srgbClr val="142235"/>
                </a:solidFill>
                <a:latin typeface="Arial"/>
                <a:ea typeface="Arial"/>
                <a:cs typeface="Arial"/>
              </a:defRPr>
            </a:pPr>
            <a:r>
              <a:rPr sz="2025" b="0">
                <a:solidFill>
                  <a:srgbClr val="142235"/>
                </a:solidFill>
                <a:latin typeface="Arial"/>
                <a:ea typeface="Arial"/>
                <a:cs typeface="Arial"/>
              </a:rPr>
              <a:t>No tested candidate replaced the live model.</a:t>
            </a:r>
          </a:p>
        </p:txBody>
      </p:sp>
    </p:spTree>
    <p:extLst>
      <p:ext uri="{BB962C8B-B14F-4D97-AF65-F5344CB8AC3E}">
        <p14:creationId xmlns:p14="http://schemas.microsoft.com/office/powerpoint/2010/main" val="10153203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FBC056-B379-4581-8558-C98B3304356C}"/>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Confidence and prediction coverage</a:t>
            </a:r>
          </a:p>
        </p:txBody>
      </p:sp>
      <p:sp>
        <p:nvSpPr>
          <p:cNvPr id="2" name="">
            <a:extLst xmlns:a="http://schemas.openxmlformats.org/drawingml/2006/main">
              <a:ext uri="{FF2B5EF4-FFF2-40B4-BE49-F238E27FC236}">
                <a16:creationId xmlns:a16="http://schemas.microsoft.com/office/drawing/2014/main" id="{40337E40-DB73-4F4B-B030-C9B371633043}"/>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9</a:t>
            </a:r>
          </a:p>
        </p:txBody>
      </p:sp>
      <p:graphicFrame>
        <p:nvGraphicFramePr>
          <p:cNvPr id="7" name=""/>
          <p:cNvGraphicFramePr/>
          <p:nvPr/>
        </p:nvGraphicFramePr>
        <p:xfrm>
          <a:off xmlns:a="http://schemas.openxmlformats.org/drawingml/2006/main" x="685800" y="1666875"/>
          <a:ext xmlns:a="http://schemas.openxmlformats.org/drawingml/2006/main" cx="10820400" cy="2857500"/>
        </p:xfrm>
        <a:graphic xmlns:a="http://schemas.openxmlformats.org/drawingml/2006/main">
          <a:graphicData uri="http://schemas.openxmlformats.org/drawingml/2006/table">
            <a:tbl>
              <a:tblPr/>
              <a:tblGrid>
                <a:gridCol w="3238500"/>
                <a:gridCol w="2286000"/>
                <a:gridCol w="2381250"/>
                <a:gridCol w="2914650"/>
              </a:tblGrid>
              <a:tr h="714375">
                <a:tc>
                  <a:txBody>
                    <a:bodyPr/>
                    <a:lstStyle/>
                    <a:p>
                      <a:r>
                        <a:rPr sz="2025" b="1">
                          <a:solidFill>
                            <a:srgbClr val="FFFFFF"/>
                          </a:solidFill>
                          <a:latin typeface="Arial"/>
                          <a:ea typeface="Arial"/>
                          <a:cs typeface="Arial"/>
                        </a:rPr>
                        <a:t>Minimum confidence</a:t>
                      </a:r>
                    </a:p>
                  </a:txBody>
                  <a:tcPr marL="91440" marR="91440" marT="45720" marB="45720">
                    <a:solidFill>
                      <a:srgbClr val="142235"/>
                    </a:solidFill>
                  </a:tcPr>
                </a:tc>
                <a:tc>
                  <a:txBody>
                    <a:bodyPr/>
                    <a:lstStyle/>
                    <a:p>
                      <a:r>
                        <a:rPr sz="2025" b="1">
                          <a:solidFill>
                            <a:srgbClr val="FFFFFF"/>
                          </a:solidFill>
                          <a:latin typeface="Arial"/>
                          <a:ea typeface="Arial"/>
                          <a:cs typeface="Arial"/>
                        </a:rPr>
                        <a:t>Coverage</a:t>
                      </a:r>
                    </a:p>
                  </a:txBody>
                  <a:tcPr marL="91440" marR="91440" marT="45720" marB="45720">
                    <a:solidFill>
                      <a:srgbClr val="142235"/>
                    </a:solidFill>
                  </a:tcPr>
                </a:tc>
                <a:tc>
                  <a:txBody>
                    <a:bodyPr/>
                    <a:lstStyle/>
                    <a:p>
                      <a:r>
                        <a:rPr sz="2025" b="1">
                          <a:solidFill>
                            <a:srgbClr val="FFFFFF"/>
                          </a:solidFill>
                          <a:latin typeface="Arial"/>
                          <a:ea typeface="Arial"/>
                          <a:cs typeface="Arial"/>
                        </a:rPr>
                        <a:t>Accuracy</a:t>
                      </a:r>
                    </a:p>
                  </a:txBody>
                  <a:tcPr marL="91440" marR="91440" marT="45720" marB="45720">
                    <a:solidFill>
                      <a:srgbClr val="142235"/>
                    </a:solidFill>
                  </a:tcPr>
                </a:tc>
                <a:tc>
                  <a:txBody>
                    <a:bodyPr/>
                    <a:lstStyle/>
                    <a:p>
                      <a:r>
                        <a:rPr sz="2025" b="1">
                          <a:solidFill>
                            <a:srgbClr val="FFFFFF"/>
                          </a:solidFill>
                          <a:latin typeface="Arial"/>
                          <a:ea typeface="Arial"/>
                          <a:cs typeface="Arial"/>
                        </a:rPr>
                        <a:t>Same-row baseline</a:t>
                      </a:r>
                    </a:p>
                  </a:txBody>
                  <a:tcPr marL="91440" marR="91440" marT="45720" marB="45720">
                    <a:solidFill>
                      <a:srgbClr val="142235"/>
                    </a:solidFill>
                  </a:tcPr>
                </a:tc>
              </a:tr>
              <a:tr h="714375">
                <a:tc>
                  <a:txBody>
                    <a:bodyPr/>
                    <a:lstStyle/>
                    <a:p>
                      <a:r>
                        <a:rPr sz="2025" b="0">
                          <a:solidFill>
                            <a:srgbClr val="142235"/>
                          </a:solidFill>
                          <a:latin typeface="Arial"/>
                          <a:ea typeface="Arial"/>
                          <a:cs typeface="Arial"/>
                        </a:rPr>
                        <a:t>50%</a:t>
                      </a:r>
                    </a:p>
                  </a:txBody>
                  <a:tcPr marL="91440" marR="91440" marT="45720" marB="45720">
                    <a:solidFill>
                      <a:srgbClr val="EFF4F5"/>
                    </a:solidFill>
                  </a:tcPr>
                </a:tc>
                <a:tc>
                  <a:txBody>
                    <a:bodyPr/>
                    <a:lstStyle/>
                    <a:p>
                      <a:r>
                        <a:rPr sz="2025" b="0">
                          <a:solidFill>
                            <a:srgbClr val="142235"/>
                          </a:solidFill>
                          <a:latin typeface="Arial"/>
                          <a:ea typeface="Arial"/>
                          <a:cs typeface="Arial"/>
                        </a:rPr>
                        <a:t>100.00%</a:t>
                      </a:r>
                    </a:p>
                  </a:txBody>
                  <a:tcPr marL="91440" marR="91440" marT="45720" marB="45720">
                    <a:solidFill>
                      <a:srgbClr val="EFF4F5"/>
                    </a:solidFill>
                  </a:tcPr>
                </a:tc>
                <a:tc>
                  <a:txBody>
                    <a:bodyPr/>
                    <a:lstStyle/>
                    <a:p>
                      <a:r>
                        <a:rPr sz="2025" b="0">
                          <a:solidFill>
                            <a:srgbClr val="142235"/>
                          </a:solidFill>
                          <a:latin typeface="Arial"/>
                          <a:ea typeface="Arial"/>
                          <a:cs typeface="Arial"/>
                        </a:rPr>
                        <a:t>52.53%</a:t>
                      </a:r>
                    </a:p>
                  </a:txBody>
                  <a:tcPr marL="91440" marR="91440" marT="45720" marB="45720">
                    <a:solidFill>
                      <a:srgbClr val="EFF4F5"/>
                    </a:solidFill>
                  </a:tcPr>
                </a:tc>
                <a:tc>
                  <a:txBody>
                    <a:bodyPr/>
                    <a:lstStyle/>
                    <a:p>
                      <a:r>
                        <a:rPr sz="2025" b="0">
                          <a:solidFill>
                            <a:srgbClr val="142235"/>
                          </a:solidFill>
                          <a:latin typeface="Arial"/>
                          <a:ea typeface="Arial"/>
                          <a:cs typeface="Arial"/>
                        </a:rPr>
                        <a:t>52.38%</a:t>
                      </a:r>
                    </a:p>
                  </a:txBody>
                  <a:tcPr marL="91440" marR="91440" marT="45720" marB="45720">
                    <a:solidFill>
                      <a:srgbClr val="EFF4F5"/>
                    </a:solidFill>
                  </a:tcPr>
                </a:tc>
              </a:tr>
              <a:tr h="714375">
                <a:tc>
                  <a:txBody>
                    <a:bodyPr/>
                    <a:lstStyle/>
                    <a:p>
                      <a:r>
                        <a:rPr sz="2025" b="0">
                          <a:solidFill>
                            <a:srgbClr val="142235"/>
                          </a:solidFill>
                          <a:latin typeface="Arial"/>
                          <a:ea typeface="Arial"/>
                          <a:cs typeface="Arial"/>
                        </a:rPr>
                        <a:t>60%</a:t>
                      </a:r>
                    </a:p>
                  </a:txBody>
                  <a:tcPr marL="91440" marR="91440" marT="45720" marB="45720">
                    <a:solidFill>
                      <a:srgbClr val="FFFFFF"/>
                    </a:solidFill>
                  </a:tcPr>
                </a:tc>
                <a:tc>
                  <a:txBody>
                    <a:bodyPr/>
                    <a:lstStyle/>
                    <a:p>
                      <a:r>
                        <a:rPr sz="2025" b="0">
                          <a:solidFill>
                            <a:srgbClr val="142235"/>
                          </a:solidFill>
                          <a:latin typeface="Arial"/>
                          <a:ea typeface="Arial"/>
                          <a:cs typeface="Arial"/>
                        </a:rPr>
                        <a:t>12.91%</a:t>
                      </a:r>
                    </a:p>
                  </a:txBody>
                  <a:tcPr marL="91440" marR="91440" marT="45720" marB="45720">
                    <a:solidFill>
                      <a:srgbClr val="FFFFFF"/>
                    </a:solidFill>
                  </a:tcPr>
                </a:tc>
                <a:tc>
                  <a:txBody>
                    <a:bodyPr/>
                    <a:lstStyle/>
                    <a:p>
                      <a:r>
                        <a:rPr sz="2025" b="0">
                          <a:solidFill>
                            <a:srgbClr val="142235"/>
                          </a:solidFill>
                          <a:latin typeface="Arial"/>
                          <a:ea typeface="Arial"/>
                          <a:cs typeface="Arial"/>
                        </a:rPr>
                        <a:t>51.51%</a:t>
                      </a:r>
                    </a:p>
                  </a:txBody>
                  <a:tcPr marL="91440" marR="91440" marT="45720" marB="45720">
                    <a:solidFill>
                      <a:srgbClr val="FFFFFF"/>
                    </a:solidFill>
                  </a:tcPr>
                </a:tc>
                <a:tc>
                  <a:txBody>
                    <a:bodyPr/>
                    <a:lstStyle/>
                    <a:p>
                      <a:r>
                        <a:rPr sz="2025" b="0">
                          <a:solidFill>
                            <a:srgbClr val="142235"/>
                          </a:solidFill>
                          <a:latin typeface="Arial"/>
                          <a:ea typeface="Arial"/>
                          <a:cs typeface="Arial"/>
                        </a:rPr>
                        <a:t>51.49%</a:t>
                      </a:r>
                    </a:p>
                  </a:txBody>
                  <a:tcPr marL="91440" marR="91440" marT="45720" marB="45720">
                    <a:solidFill>
                      <a:srgbClr val="FFFFFF"/>
                    </a:solidFill>
                  </a:tcPr>
                </a:tc>
              </a:tr>
              <a:tr h="714375">
                <a:tc>
                  <a:txBody>
                    <a:bodyPr/>
                    <a:lstStyle/>
                    <a:p>
                      <a:r>
                        <a:rPr sz="2025" b="0">
                          <a:solidFill>
                            <a:srgbClr val="142235"/>
                          </a:solidFill>
                          <a:latin typeface="Arial"/>
                          <a:ea typeface="Arial"/>
                          <a:cs typeface="Arial"/>
                        </a:rPr>
                        <a:t>70%</a:t>
                      </a:r>
                    </a:p>
                  </a:txBody>
                  <a:tcPr marL="91440" marR="91440" marT="45720" marB="45720">
                    <a:solidFill>
                      <a:srgbClr val="EFF4F5"/>
                    </a:solidFill>
                  </a:tcPr>
                </a:tc>
                <a:tc>
                  <a:txBody>
                    <a:bodyPr/>
                    <a:lstStyle/>
                    <a:p>
                      <a:r>
                        <a:rPr sz="2025" b="0">
                          <a:solidFill>
                            <a:srgbClr val="142235"/>
                          </a:solidFill>
                          <a:latin typeface="Arial"/>
                          <a:ea typeface="Arial"/>
                          <a:cs typeface="Arial"/>
                        </a:rPr>
                        <a:t>0.10%</a:t>
                      </a:r>
                    </a:p>
                  </a:txBody>
                  <a:tcPr marL="91440" marR="91440" marT="45720" marB="45720">
                    <a:solidFill>
                      <a:srgbClr val="EFF4F5"/>
                    </a:solidFill>
                  </a:tcPr>
                </a:tc>
                <a:tc>
                  <a:txBody>
                    <a:bodyPr/>
                    <a:lstStyle/>
                    <a:p>
                      <a:r>
                        <a:rPr sz="2025" b="0">
                          <a:solidFill>
                            <a:srgbClr val="142235"/>
                          </a:solidFill>
                          <a:latin typeface="Arial"/>
                          <a:ea typeface="Arial"/>
                          <a:cs typeface="Arial"/>
                        </a:rPr>
                        <a:t>62.50%</a:t>
                      </a:r>
                    </a:p>
                  </a:txBody>
                  <a:tcPr marL="91440" marR="91440" marT="45720" marB="45720">
                    <a:solidFill>
                      <a:srgbClr val="EFF4F5"/>
                    </a:solidFill>
                  </a:tcPr>
                </a:tc>
                <a:tc>
                  <a:txBody>
                    <a:bodyPr/>
                    <a:lstStyle/>
                    <a:p>
                      <a:r>
                        <a:rPr sz="2025" b="0">
                          <a:solidFill>
                            <a:srgbClr val="142235"/>
                          </a:solidFill>
                          <a:latin typeface="Arial"/>
                          <a:ea typeface="Arial"/>
                          <a:cs typeface="Arial"/>
                        </a:rPr>
                        <a:t>62.50%</a:t>
                      </a:r>
                    </a:p>
                  </a:txBody>
                  <a:tcPr marL="91440" marR="91440" marT="45720" marB="45720">
                    <a:solidFill>
                      <a:srgbClr val="EFF4F5"/>
                    </a:solidFill>
                  </a:tcPr>
                </a:tc>
              </a:tr>
            </a:tbl>
          </a:graphicData>
        </a:graphic>
      </p:graphicFrame>
      <p:sp>
        <p:nvSpPr>
          <p:cNvPr id="4" name="">
            <a:extLst xmlns:a="http://schemas.openxmlformats.org/drawingml/2006/main">
              <a:ext uri="{FF2B5EF4-FFF2-40B4-BE49-F238E27FC236}">
                <a16:creationId xmlns:a16="http://schemas.microsoft.com/office/drawing/2014/main" id="{8B3A338F-29E9-4B90-9CCA-DC4194A0B991}"/>
              </a:ext>
            </a:extLst>
          </p:cNvPr>
          <p:cNvSpPr>
            <a:spLocks xmlns:a="http://schemas.openxmlformats.org/drawingml/2006/main" noGrp="1"/>
          </p:cNvSpPr>
          <p:nvPr/>
        </p:nvSpPr>
        <p:spPr>
          <a:xfrm xmlns:a="http://schemas.openxmlformats.org/drawingml/2006/main">
            <a:off x="685800" y="5029200"/>
            <a:ext cx="10477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100" b="0">
                <a:solidFill>
                  <a:srgbClr val="142235"/>
                </a:solidFill>
                <a:latin typeface="Arial"/>
                <a:ea typeface="Arial"/>
                <a:cs typeface="Arial"/>
              </a:defRPr>
            </a:pPr>
            <a:r>
              <a:rPr sz="2100" b="0">
                <a:solidFill>
                  <a:srgbClr val="142235"/>
                </a:solidFill>
                <a:latin typeface="Arial"/>
                <a:ea typeface="Arial"/>
                <a:cs typeface="Arial"/>
              </a:rPr>
              <a:t>At 60%, accuracy falls while most predictions disappear.</a:t>
            </a:r>
          </a:p>
          <a:p xmlns:a="http://schemas.openxmlformats.org/drawingml/2006/main">
            <a:pPr marL="254000" indent="-127000">
              <a:spcAft>
                <a:spcPts val="1800"/>
              </a:spcAft>
              <a:buChar char="•"/>
              <a:defRPr sz="2100" b="0">
                <a:solidFill>
                  <a:srgbClr val="142235"/>
                </a:solidFill>
                <a:latin typeface="Arial"/>
                <a:ea typeface="Arial"/>
                <a:cs typeface="Arial"/>
              </a:defRPr>
            </a:pPr>
            <a:r>
              <a:rPr sz="2100" b="0">
                <a:solidFill>
                  <a:srgbClr val="142235"/>
                </a:solidFill>
                <a:latin typeface="Arial"/>
                <a:ea typeface="Arial"/>
                <a:cs typeface="Arial"/>
              </a:rPr>
              <a:t>The 70% score uses only 32 rows and equals its baseline.</a:t>
            </a:r>
          </a:p>
        </p:txBody>
      </p:sp>
    </p:spTree>
    <p:extLst>
      <p:ext uri="{BB962C8B-B14F-4D97-AF65-F5344CB8AC3E}">
        <p14:creationId xmlns:p14="http://schemas.microsoft.com/office/powerpoint/2010/main" val="6755394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31432B-FC37-4EA7-AE5A-FFE1CB83FDA7}"/>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Backtest consistency across observed years</a:t>
            </a:r>
          </a:p>
        </p:txBody>
      </p:sp>
      <p:sp>
        <p:nvSpPr>
          <p:cNvPr id="2" name="">
            <a:extLst xmlns:a="http://schemas.openxmlformats.org/drawingml/2006/main">
              <a:ext uri="{FF2B5EF4-FFF2-40B4-BE49-F238E27FC236}">
                <a16:creationId xmlns:a16="http://schemas.microsoft.com/office/drawing/2014/main" id="{BFD43DD6-4303-4158-B859-5C928B757C27}"/>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10</a:t>
            </a:r>
          </a:p>
        </p:txBody>
      </p:sp>
      <p:graphicFrame>
        <p:nvGraphicFramePr>
          <p:cNvPr id="9" name="Chart"/>
          <p:cNvGraphicFramePr/>
          <p:nvPr/>
        </p:nvGraphicFramePr>
        <p:xfrm>
          <a:off xmlns:a="http://schemas.openxmlformats.org/drawingml/2006/main" x="685800" y="1809750"/>
          <a:ext xmlns:a="http://schemas.openxmlformats.org/drawingml/2006/main" cx="7429500" cy="3905250"/>
        </p:xfrm>
        <a:graphic xmlns:a="http://schemas.openxmlformats.org/drawingml/2006/main">
          <a:graphicData uri="http://schemas.openxmlformats.org/drawingml/2006/chart">
            <c:chart xmlns:r="http://schemas.openxmlformats.org/officeDocument/2006/relationships" xmlns:c="http://schemas.openxmlformats.org/drawingml/2006/chart" r:id="R4c6a525d7fc44ede"/>
          </a:graphicData>
        </a:graphic>
      </p:graphicFrame>
      <p:sp>
        <p:nvSpPr>
          <p:cNvPr id="4" name="">
            <a:extLst xmlns:a="http://schemas.openxmlformats.org/drawingml/2006/main">
              <a:ext uri="{FF2B5EF4-FFF2-40B4-BE49-F238E27FC236}">
                <a16:creationId xmlns:a16="http://schemas.microsoft.com/office/drawing/2014/main" id="{A768713A-92A8-4C58-9815-E19EA609EA54}"/>
              </a:ext>
            </a:extLst>
          </p:cNvPr>
          <p:cNvSpPr>
            <a:spLocks xmlns:a="http://schemas.openxmlformats.org/drawingml/2006/main" noGrp="1"/>
          </p:cNvSpPr>
          <p:nvPr/>
        </p:nvSpPr>
        <p:spPr>
          <a:xfrm xmlns:a="http://schemas.openxmlformats.org/drawingml/2006/main">
            <a:off x="8629650" y="2114550"/>
            <a:ext cx="28575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025" b="0">
                <a:solidFill>
                  <a:srgbClr val="142235"/>
                </a:solidFill>
                <a:latin typeface="Arial"/>
                <a:ea typeface="Arial"/>
                <a:cs typeface="Arial"/>
              </a:defRPr>
            </a:pPr>
            <a:r>
              <a:rPr sz="2025" b="0">
                <a:solidFill>
                  <a:srgbClr val="142235"/>
                </a:solidFill>
                <a:latin typeface="Arial"/>
                <a:ea typeface="Arial"/>
                <a:cs typeface="Arial"/>
              </a:rPr>
              <a:t>9 of 23 months beat SPY</a:t>
            </a:r>
          </a:p>
          <a:p xmlns:a="http://schemas.openxmlformats.org/drawingml/2006/main">
            <a:pPr marL="254000" indent="-127000">
              <a:spcAft>
                <a:spcPts val="1800"/>
              </a:spcAft>
              <a:buChar char="•"/>
              <a:defRPr sz="2025" b="0">
                <a:solidFill>
                  <a:srgbClr val="142235"/>
                </a:solidFill>
                <a:latin typeface="Arial"/>
                <a:ea typeface="Arial"/>
                <a:cs typeface="Arial"/>
              </a:defRPr>
            </a:pPr>
            <a:r>
              <a:rPr sz="2025" b="0">
                <a:solidFill>
                  <a:srgbClr val="142235"/>
                </a:solidFill>
                <a:latin typeface="Arial"/>
                <a:ea typeface="Arial"/>
                <a:cs typeface="Arial"/>
              </a:rPr>
              <a:t>2024 trails SPY by 0.60 percentage points</a:t>
            </a:r>
          </a:p>
        </p:txBody>
      </p:sp>
      <p:sp>
        <p:nvSpPr>
          <p:cNvPr id="5" name="">
            <a:extLst xmlns:a="http://schemas.openxmlformats.org/drawingml/2006/main">
              <a:ext uri="{FF2B5EF4-FFF2-40B4-BE49-F238E27FC236}">
                <a16:creationId xmlns:a16="http://schemas.microsoft.com/office/drawing/2014/main" id="{96BE460A-A4FF-4816-9FE1-576D93F3C636}"/>
              </a:ext>
            </a:extLst>
          </p:cNvPr>
          <p:cNvSpPr>
            <a:spLocks xmlns:a="http://schemas.openxmlformats.org/drawingml/2006/main" noGrp="1"/>
          </p:cNvSpPr>
          <p:nvPr/>
        </p:nvSpPr>
        <p:spPr>
          <a:xfrm xmlns:a="http://schemas.openxmlformats.org/drawingml/2006/main">
            <a:off x="685800" y="1381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173"/>
                </a:solidFill>
                <a:latin typeface="Arial"/>
                <a:ea typeface="Arial"/>
                <a:cs typeface="Arial"/>
              </a:defRPr>
            </a:pPr>
            <a:r>
              <a:rPr sz="1800" b="0">
                <a:solidFill>
                  <a:srgbClr val="526173"/>
                </a:solidFill>
                <a:latin typeface="Arial"/>
                <a:ea typeface="Arial"/>
                <a:cs typeface="Arial"/>
              </a:rPr>
              <a:t>22 Feb to 29 Dec 2023 and 2 Jan to 20 Dec 2024</a:t>
            </a:r>
          </a:p>
        </p:txBody>
      </p:sp>
      <p:sp>
        <p:nvSpPr>
          <p:cNvPr id="6" name="">
            <a:extLst xmlns:a="http://schemas.openxmlformats.org/drawingml/2006/main">
              <a:ext uri="{FF2B5EF4-FFF2-40B4-BE49-F238E27FC236}">
                <a16:creationId xmlns:a16="http://schemas.microsoft.com/office/drawing/2014/main" id="{6E16C000-68C2-498C-B404-A977C6F3FE03}"/>
              </a:ext>
            </a:extLst>
          </p:cNvPr>
          <p:cNvSpPr>
            <a:spLocks xmlns:a="http://schemas.openxmlformats.org/drawingml/2006/main" noGrp="1"/>
          </p:cNvSpPr>
          <p:nvPr/>
        </p:nvSpPr>
        <p:spPr>
          <a:xfrm xmlns:a="http://schemas.openxmlformats.org/drawingml/2006/main">
            <a:off x="685800" y="6010275"/>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8611B"/>
                </a:solidFill>
                <a:latin typeface="Arial"/>
                <a:ea typeface="Arial"/>
                <a:cs typeface="Arial"/>
              </a:defRPr>
            </a:pPr>
            <a:r>
              <a:rPr sz="1800" b="0">
                <a:solidFill>
                  <a:srgbClr val="98611B"/>
                </a:solidFill>
                <a:latin typeface="Arial"/>
                <a:ea typeface="Arial"/>
                <a:cs typeface="Arial"/>
              </a:rPr>
              <a:t>Partial years, after costs. Reused history makes these exploratory results.</a:t>
            </a:r>
          </a:p>
        </p:txBody>
      </p:sp>
    </p:spTree>
    <p:extLst>
      <p:ext uri="{BB962C8B-B14F-4D97-AF65-F5344CB8AC3E}">
        <p14:creationId xmlns:p14="http://schemas.microsoft.com/office/powerpoint/2010/main" val="8554624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E086C9-99B6-4ADD-B7DE-65FADD7573D5}"/>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Faster loading and safer recovery</a:t>
            </a:r>
          </a:p>
        </p:txBody>
      </p:sp>
      <p:sp>
        <p:nvSpPr>
          <p:cNvPr id="2" name="">
            <a:extLst xmlns:a="http://schemas.openxmlformats.org/drawingml/2006/main">
              <a:ext uri="{FF2B5EF4-FFF2-40B4-BE49-F238E27FC236}">
                <a16:creationId xmlns:a16="http://schemas.microsoft.com/office/drawing/2014/main" id="{2BBE6552-D2A4-4B0F-9674-8BA01FC7B27B}"/>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11</a:t>
            </a:r>
          </a:p>
        </p:txBody>
      </p:sp>
      <p:graphicFrame>
        <p:nvGraphicFramePr>
          <p:cNvPr id="9" name="Chart"/>
          <p:cNvGraphicFramePr/>
          <p:nvPr/>
        </p:nvGraphicFramePr>
        <p:xfrm>
          <a:off xmlns:a="http://schemas.openxmlformats.org/drawingml/2006/main" x="685800" y="1809750"/>
          <a:ext xmlns:a="http://schemas.openxmlformats.org/drawingml/2006/main" cx="6381750" cy="3810000"/>
        </p:xfrm>
        <a:graphic xmlns:a="http://schemas.openxmlformats.org/drawingml/2006/main">
          <a:graphicData uri="http://schemas.openxmlformats.org/drawingml/2006/chart">
            <c:chart xmlns:r="http://schemas.openxmlformats.org/officeDocument/2006/relationships" xmlns:c="http://schemas.openxmlformats.org/drawingml/2006/chart" r:id="Rd2e500697dc545b7"/>
          </a:graphicData>
        </a:graphic>
      </p:graphicFrame>
      <p:sp>
        <p:nvSpPr>
          <p:cNvPr id="4" name="">
            <a:extLst xmlns:a="http://schemas.openxmlformats.org/drawingml/2006/main">
              <a:ext uri="{FF2B5EF4-FFF2-40B4-BE49-F238E27FC236}">
                <a16:creationId xmlns:a16="http://schemas.microsoft.com/office/drawing/2014/main" id="{FC0FD2D2-6E6C-46B0-B4FE-46425937B2AA}"/>
              </a:ext>
            </a:extLst>
          </p:cNvPr>
          <p:cNvSpPr>
            <a:spLocks xmlns:a="http://schemas.openxmlformats.org/drawingml/2006/main" noGrp="1"/>
          </p:cNvSpPr>
          <p:nvPr/>
        </p:nvSpPr>
        <p:spPr>
          <a:xfrm xmlns:a="http://schemas.openxmlformats.org/drawingml/2006/main">
            <a:off x="7543800" y="1752600"/>
            <a:ext cx="39433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57.2% fewer initial JavaScript bytes</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Prepares exact XAI before web requests</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Cancels stale requests and supports retry</a:t>
            </a:r>
          </a:p>
        </p:txBody>
      </p:sp>
      <p:sp>
        <p:nvSpPr>
          <p:cNvPr id="5" name="">
            <a:extLst xmlns:a="http://schemas.openxmlformats.org/drawingml/2006/main">
              <a:ext uri="{FF2B5EF4-FFF2-40B4-BE49-F238E27FC236}">
                <a16:creationId xmlns:a16="http://schemas.microsoft.com/office/drawing/2014/main" id="{9DFF4A4C-2903-4210-AB69-67D598540C8C}"/>
              </a:ext>
            </a:extLst>
          </p:cNvPr>
          <p:cNvSpPr>
            <a:spLocks xmlns:a="http://schemas.openxmlformats.org/drawingml/2006/main" noGrp="1"/>
          </p:cNvSpPr>
          <p:nvPr/>
        </p:nvSpPr>
        <p:spPr>
          <a:xfrm xmlns:a="http://schemas.openxmlformats.org/drawingml/2006/main">
            <a:off x="685800" y="14097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173"/>
                </a:solidFill>
                <a:latin typeface="Arial"/>
                <a:ea typeface="Arial"/>
                <a:cs typeface="Arial"/>
              </a:defRPr>
            </a:pPr>
            <a:r>
              <a:rPr sz="2025" b="0">
                <a:solidFill>
                  <a:srgbClr val="526173"/>
                </a:solidFill>
                <a:latin typeface="Arial"/>
                <a:ea typeface="Arial"/>
                <a:cs typeface="Arial"/>
              </a:rPr>
              <a:t>Initial JavaScript (kB)</a:t>
            </a:r>
          </a:p>
        </p:txBody>
      </p:sp>
      <p:sp>
        <p:nvSpPr>
          <p:cNvPr id="6" name="">
            <a:extLst xmlns:a="http://schemas.openxmlformats.org/drawingml/2006/main">
              <a:ext uri="{FF2B5EF4-FFF2-40B4-BE49-F238E27FC236}">
                <a16:creationId xmlns:a16="http://schemas.microsoft.com/office/drawing/2014/main" id="{B0D0765D-B762-4570-AA43-BD18C21E466E}"/>
              </a:ext>
            </a:extLst>
          </p:cNvPr>
          <p:cNvSpPr>
            <a:spLocks xmlns:a="http://schemas.openxmlformats.org/drawingml/2006/main" noGrp="1"/>
          </p:cNvSpPr>
          <p:nvPr/>
        </p:nvSpPr>
        <p:spPr>
          <a:xfrm xmlns:a="http://schemas.openxmlformats.org/drawingml/2006/main">
            <a:off x="685800" y="5962650"/>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8611B"/>
                </a:solidFill>
                <a:latin typeface="Arial"/>
                <a:ea typeface="Arial"/>
                <a:cs typeface="Arial"/>
              </a:defRPr>
            </a:pPr>
            <a:r>
              <a:rPr sz="1800" b="0">
                <a:solidFill>
                  <a:srgbClr val="98611B"/>
                </a:solidFill>
                <a:latin typeface="Arial"/>
                <a:ea typeface="Arial"/>
                <a:cs typeface="Arial"/>
              </a:rPr>
              <a:t>Build-size evidence. Actual Render response times can still vary.</a:t>
            </a:r>
          </a:p>
        </p:txBody>
      </p:sp>
    </p:spTree>
    <p:extLst>
      <p:ext uri="{BB962C8B-B14F-4D97-AF65-F5344CB8AC3E}">
        <p14:creationId xmlns:p14="http://schemas.microsoft.com/office/powerpoint/2010/main" val="18608173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D1B102-24FE-4B65-BC74-CB9BCB2363C2}"/>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Verification and deployment</a:t>
            </a:r>
          </a:p>
        </p:txBody>
      </p:sp>
      <p:sp>
        <p:nvSpPr>
          <p:cNvPr id="2" name="">
            <a:extLst xmlns:a="http://schemas.openxmlformats.org/drawingml/2006/main">
              <a:ext uri="{FF2B5EF4-FFF2-40B4-BE49-F238E27FC236}">
                <a16:creationId xmlns:a16="http://schemas.microsoft.com/office/drawing/2014/main" id="{A20283A8-CFFF-4789-B74C-DEA6A11132E9}"/>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ADEF565C-5C82-431D-B3CB-930791E63F29}"/>
              </a:ext>
            </a:extLst>
          </p:cNvPr>
          <p:cNvSpPr>
            <a:spLocks xmlns:a="http://schemas.openxmlformats.org/drawingml/2006/main" noGrp="1"/>
          </p:cNvSpPr>
          <p:nvPr/>
        </p:nvSpPr>
        <p:spPr>
          <a:xfrm xmlns:a="http://schemas.openxmlformats.org/drawingml/2006/main">
            <a:off x="685800" y="1600200"/>
            <a:ext cx="108204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325" b="0">
                <a:solidFill>
                  <a:srgbClr val="142235"/>
                </a:solidFill>
                <a:latin typeface="Arial"/>
                <a:ea typeface="Arial"/>
                <a:cs typeface="Arial"/>
              </a:defRPr>
            </a:pPr>
            <a:r>
              <a:rPr sz="2325" b="0">
                <a:solidFill>
                  <a:srgbClr val="142235"/>
                </a:solidFill>
                <a:latin typeface="Arial"/>
                <a:ea typeface="Arial"/>
                <a:cs typeface="Arial"/>
              </a:rPr>
              <a:t>Last verified release: 144 backend and 7 frontend tests</a:t>
            </a:r>
          </a:p>
          <a:p xmlns:a="http://schemas.openxmlformats.org/drawingml/2006/main">
            <a:pPr marL="254000" indent="-127000">
              <a:spcAft>
                <a:spcPts val="1800"/>
              </a:spcAft>
              <a:buChar char="•"/>
              <a:defRPr sz="2325" b="0">
                <a:solidFill>
                  <a:srgbClr val="142235"/>
                </a:solidFill>
                <a:latin typeface="Arial"/>
                <a:ea typeface="Arial"/>
                <a:cs typeface="Arial"/>
              </a:defRPr>
            </a:pPr>
            <a:r>
              <a:rPr sz="2325" b="0">
                <a:solidFill>
                  <a:srgbClr val="142235"/>
                </a:solidFill>
                <a:latin typeface="Arial"/>
                <a:ea typeface="Arial"/>
                <a:cs typeface="Arial"/>
              </a:rPr>
              <a:t>GitHub stores code and runs automated release checks</a:t>
            </a:r>
          </a:p>
          <a:p xmlns:a="http://schemas.openxmlformats.org/drawingml/2006/main">
            <a:pPr marL="254000" indent="-127000">
              <a:spcAft>
                <a:spcPts val="1800"/>
              </a:spcAft>
              <a:buChar char="•"/>
              <a:defRPr sz="2325" b="0">
                <a:solidFill>
                  <a:srgbClr val="142235"/>
                </a:solidFill>
                <a:latin typeface="Arial"/>
                <a:ea typeface="Arial"/>
                <a:cs typeface="Arial"/>
              </a:defRPr>
            </a:pPr>
            <a:r>
              <a:rPr sz="2325" b="0">
                <a:solidFill>
                  <a:srgbClr val="142235"/>
                </a:solidFill>
                <a:latin typeface="Arial"/>
                <a:ea typeface="Arial"/>
                <a:cs typeface="Arial"/>
              </a:rPr>
              <a:t>Vercel hosts React, Render serves FastAPI</a:t>
            </a:r>
          </a:p>
          <a:p xmlns:a="http://schemas.openxmlformats.org/drawingml/2006/main">
            <a:pPr marL="254000" indent="-127000">
              <a:spcAft>
                <a:spcPts val="1800"/>
              </a:spcAft>
              <a:buChar char="•"/>
              <a:defRPr sz="2325" b="0">
                <a:solidFill>
                  <a:srgbClr val="142235"/>
                </a:solidFill>
                <a:latin typeface="Arial"/>
                <a:ea typeface="Arial"/>
                <a:cs typeface="Arial"/>
              </a:defRPr>
            </a:pPr>
            <a:r>
              <a:rPr sz="2325" b="0">
                <a:solidFill>
                  <a:srgbClr val="142235"/>
                </a:solidFill>
                <a:latin typeface="Arial"/>
                <a:ea typeface="Arial"/>
                <a:cs typeface="Arial"/>
              </a:rPr>
              <a:t>Supabase stores accounts and forward predictions</a:t>
            </a:r>
          </a:p>
        </p:txBody>
      </p:sp>
      <p:sp>
        <p:nvSpPr>
          <p:cNvPr id="4" name="">
            <a:extLst xmlns:a="http://schemas.openxmlformats.org/drawingml/2006/main">
              <a:ext uri="{FF2B5EF4-FFF2-40B4-BE49-F238E27FC236}">
                <a16:creationId xmlns:a16="http://schemas.microsoft.com/office/drawing/2014/main" id="{0788680B-3C69-4BEB-B206-20571517BB5E}"/>
              </a:ext>
            </a:extLst>
          </p:cNvPr>
          <p:cNvSpPr>
            <a:spLocks xmlns:a="http://schemas.openxmlformats.org/drawingml/2006/main" noGrp="1"/>
          </p:cNvSpPr>
          <p:nvPr/>
        </p:nvSpPr>
        <p:spPr>
          <a:xfrm xmlns:a="http://schemas.openxmlformats.org/drawingml/2006/main">
            <a:off x="685800" y="5562600"/>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8611B"/>
                </a:solidFill>
                <a:latin typeface="Arial"/>
                <a:ea typeface="Arial"/>
                <a:cs typeface="Arial"/>
              </a:defRPr>
            </a:pPr>
            <a:r>
              <a:rPr sz="1800" b="0">
                <a:solidFill>
                  <a:srgbClr val="98611B"/>
                </a:solidFill>
                <a:latin typeface="Arial"/>
                <a:ea typeface="Arial"/>
                <a:cs typeface="Arial"/>
              </a:rPr>
              <a:t>6 October hosted reads timed out. Keep the local demo backup ready.</a:t>
            </a:r>
          </a:p>
        </p:txBody>
      </p:sp>
    </p:spTree>
    <p:extLst>
      <p:ext uri="{BB962C8B-B14F-4D97-AF65-F5344CB8AC3E}">
        <p14:creationId xmlns:p14="http://schemas.microsoft.com/office/powerpoint/2010/main" val="12494282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C2381A-DCC8-4AEA-8A1F-98981417DB85}"/>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Forward prediction tracking status</a:t>
            </a:r>
          </a:p>
        </p:txBody>
      </p:sp>
      <p:sp>
        <p:nvSpPr>
          <p:cNvPr id="2" name="">
            <a:extLst xmlns:a="http://schemas.openxmlformats.org/drawingml/2006/main">
              <a:ext uri="{FF2B5EF4-FFF2-40B4-BE49-F238E27FC236}">
                <a16:creationId xmlns:a16="http://schemas.microsoft.com/office/drawing/2014/main" id="{D724D16F-80DC-453B-95EF-0B10237ED916}"/>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BAF62C69-FEC4-47A5-82AD-40784AA17462}"/>
              </a:ext>
            </a:extLst>
          </p:cNvPr>
          <p:cNvSpPr>
            <a:spLocks xmlns:a="http://schemas.openxmlformats.org/drawingml/2006/main" noGrp="1"/>
          </p:cNvSpPr>
          <p:nvPr/>
        </p:nvSpPr>
        <p:spPr>
          <a:xfrm xmlns:a="http://schemas.openxmlformats.org/drawingml/2006/main">
            <a:off x="685800" y="168592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87E8B"/>
                </a:solidFill>
                <a:latin typeface="Arial"/>
                <a:ea typeface="Arial"/>
                <a:cs typeface="Arial"/>
              </a:defRPr>
            </a:pPr>
            <a:r>
              <a:rPr sz="3900" b="1">
                <a:solidFill>
                  <a:srgbClr val="087E8B"/>
                </a:solidFill>
                <a:latin typeface="Arial"/>
                <a:ea typeface="Arial"/>
                <a:cs typeface="Arial"/>
              </a:rPr>
              <a:t>44 logged forecasts</a:t>
            </a:r>
          </a:p>
        </p:txBody>
      </p:sp>
      <p:sp>
        <p:nvSpPr>
          <p:cNvPr id="4" name="">
            <a:extLst xmlns:a="http://schemas.openxmlformats.org/drawingml/2006/main">
              <a:ext uri="{FF2B5EF4-FFF2-40B4-BE49-F238E27FC236}">
                <a16:creationId xmlns:a16="http://schemas.microsoft.com/office/drawing/2014/main" id="{24B16C39-C0DA-4F7E-9A14-DEC4E936AEEA}"/>
              </a:ext>
            </a:extLst>
          </p:cNvPr>
          <p:cNvSpPr>
            <a:spLocks xmlns:a="http://schemas.openxmlformats.org/drawingml/2006/main" noGrp="1"/>
          </p:cNvSpPr>
          <p:nvPr/>
        </p:nvSpPr>
        <p:spPr>
          <a:xfrm xmlns:a="http://schemas.openxmlformats.org/drawingml/2006/main">
            <a:off x="685800" y="26670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173"/>
                </a:solidFill>
                <a:latin typeface="Arial"/>
                <a:ea typeface="Arial"/>
                <a:cs typeface="Arial"/>
              </a:defRPr>
            </a:pPr>
            <a:r>
              <a:rPr sz="2175" b="0">
                <a:solidFill>
                  <a:srgbClr val="526173"/>
                </a:solidFill>
                <a:latin typeface="Arial"/>
                <a:ea typeface="Arial"/>
                <a:cs typeface="Arial"/>
              </a:rPr>
              <a:t>Last verified snapshot: 5 October 2026</a:t>
            </a:r>
          </a:p>
        </p:txBody>
      </p:sp>
      <p:sp>
        <p:nvSpPr>
          <p:cNvPr id="5" name="">
            <a:extLst xmlns:a="http://schemas.openxmlformats.org/drawingml/2006/main">
              <a:ext uri="{FF2B5EF4-FFF2-40B4-BE49-F238E27FC236}">
                <a16:creationId xmlns:a16="http://schemas.microsoft.com/office/drawing/2014/main" id="{73BDCB36-7198-4BC4-8E94-09E47E7FA6E8}"/>
              </a:ext>
            </a:extLst>
          </p:cNvPr>
          <p:cNvSpPr>
            <a:spLocks xmlns:a="http://schemas.openxmlformats.org/drawingml/2006/main" noGrp="1"/>
          </p:cNvSpPr>
          <p:nvPr/>
        </p:nvSpPr>
        <p:spPr>
          <a:xfrm xmlns:a="http://schemas.openxmlformats.org/drawingml/2006/main">
            <a:off x="685800" y="3600450"/>
            <a:ext cx="10820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That snapshot had 44 pending and zero resolved forecasts</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The target session has passed, but current status is unconfirmed</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Fresh results need a successful read and outcome reconciliation</a:t>
            </a:r>
          </a:p>
        </p:txBody>
      </p:sp>
      <p:sp>
        <p:nvSpPr>
          <p:cNvPr id="6" name="">
            <a:extLst xmlns:a="http://schemas.openxmlformats.org/drawingml/2006/main">
              <a:ext uri="{FF2B5EF4-FFF2-40B4-BE49-F238E27FC236}">
                <a16:creationId xmlns:a16="http://schemas.microsoft.com/office/drawing/2014/main" id="{23B0C41B-A448-4A97-A7F6-6DA4846C4502}"/>
              </a:ext>
            </a:extLst>
          </p:cNvPr>
          <p:cNvSpPr>
            <a:spLocks xmlns:a="http://schemas.openxmlformats.org/drawingml/2006/main" noGrp="1"/>
          </p:cNvSpPr>
          <p:nvPr/>
        </p:nvSpPr>
        <p:spPr>
          <a:xfrm xmlns:a="http://schemas.openxmlformats.org/drawingml/2006/main">
            <a:off x="685800" y="5857875"/>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8611B"/>
                </a:solidFill>
                <a:latin typeface="Arial"/>
                <a:ea typeface="Arial"/>
                <a:cs typeface="Arial"/>
              </a:defRPr>
            </a:pPr>
            <a:r>
              <a:rPr sz="1800" b="0">
                <a:solidFill>
                  <a:srgbClr val="98611B"/>
                </a:solidFill>
                <a:latin typeface="Arial"/>
                <a:ea typeface="Arial"/>
                <a:cs typeface="Arial"/>
              </a:rPr>
              <a:t>No verified live accuracy result is claimed in this update.</a:t>
            </a:r>
          </a:p>
        </p:txBody>
      </p:sp>
    </p:spTree>
    <p:extLst>
      <p:ext uri="{BB962C8B-B14F-4D97-AF65-F5344CB8AC3E}">
        <p14:creationId xmlns:p14="http://schemas.microsoft.com/office/powerpoint/2010/main" val="82615223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A13A7D-8EA3-4CFF-94CC-B46920249020}"/>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Illustrated project documentation</a:t>
            </a:r>
          </a:p>
        </p:txBody>
      </p:sp>
      <p:sp>
        <p:nvSpPr>
          <p:cNvPr id="2" name="">
            <a:extLst xmlns:a="http://schemas.openxmlformats.org/drawingml/2006/main">
              <a:ext uri="{FF2B5EF4-FFF2-40B4-BE49-F238E27FC236}">
                <a16:creationId xmlns:a16="http://schemas.microsoft.com/office/drawing/2014/main" id="{1D248797-1A69-404D-8E36-DF9222DB992A}"/>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D8BB0F39-75C9-423E-83CF-938DC87FD3FE}"/>
              </a:ext>
            </a:extLst>
          </p:cNvPr>
          <p:cNvSpPr>
            <a:spLocks xmlns:a="http://schemas.openxmlformats.org/drawingml/2006/main" noGrp="1"/>
          </p:cNvSpPr>
          <p:nvPr/>
        </p:nvSpPr>
        <p:spPr>
          <a:xfrm xmlns:a="http://schemas.openxmlformats.org/drawingml/2006/main">
            <a:off x="685800" y="1685925"/>
            <a:ext cx="46672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72-page guide with dashboard feature screenshots</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Simple explanations of data and calculation methods</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Dataset-to-deployment workflow trees</a:t>
            </a:r>
          </a:p>
          <a:p xmlns:a="http://schemas.openxmlformats.org/drawingml/2006/main">
            <a:pPr marL="254000" indent="-127000">
              <a:spcAft>
                <a:spcPts val="1800"/>
              </a:spcAft>
              <a:buChar char="•"/>
              <a:defRPr sz="2175" b="0">
                <a:solidFill>
                  <a:srgbClr val="142235"/>
                </a:solidFill>
                <a:latin typeface="Arial"/>
                <a:ea typeface="Arial"/>
                <a:cs typeface="Arial"/>
              </a:defRPr>
            </a:pPr>
            <a:r>
              <a:rPr sz="2175" b="0">
                <a:solidFill>
                  <a:srgbClr val="142235"/>
                </a:solidFill>
                <a:latin typeface="Arial"/>
                <a:ea typeface="Arial"/>
                <a:cs typeface="Arial"/>
              </a:rPr>
              <a:t>Metric definitions and local demonstration steps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3c60b8e6bde446a"/>
          <a:stretch xmlns:a="http://schemas.openxmlformats.org/drawingml/2006/main"/>
        </p:blipFill>
        <p:spPr>
          <a:xfrm xmlns:a="http://schemas.openxmlformats.org/drawingml/2006/main">
            <a:off x="5917560" y="1666875"/>
            <a:ext cx="5386079" cy="3810000"/>
          </a:xfrm>
          <a:prstGeom xmlns:a="http://schemas.openxmlformats.org/drawingml/2006/main" prst="rect">
            <a:avLst/>
          </a:prstGeom>
        </p:spPr>
      </p:pic>
    </p:spTree>
    <p:extLst>
      <p:ext uri="{BB962C8B-B14F-4D97-AF65-F5344CB8AC3E}">
        <p14:creationId xmlns:p14="http://schemas.microsoft.com/office/powerpoint/2010/main" val="20860088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6F00B5-3930-40F1-A970-58EEBD73ED94}"/>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Remaining research and user evaluation</a:t>
            </a:r>
          </a:p>
        </p:txBody>
      </p:sp>
      <p:sp>
        <p:nvSpPr>
          <p:cNvPr id="2" name="">
            <a:extLst xmlns:a="http://schemas.openxmlformats.org/drawingml/2006/main">
              <a:ext uri="{FF2B5EF4-FFF2-40B4-BE49-F238E27FC236}">
                <a16:creationId xmlns:a16="http://schemas.microsoft.com/office/drawing/2014/main" id="{FA53559C-7502-4F09-8D27-FA5E4C47F4C9}"/>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D77611F7-F63C-417F-8FB5-73962D6DEFC8}"/>
              </a:ext>
            </a:extLst>
          </p:cNvPr>
          <p:cNvSpPr>
            <a:spLocks xmlns:a="http://schemas.openxmlformats.org/drawingml/2006/main" noGrp="1"/>
          </p:cNvSpPr>
          <p:nvPr/>
        </p:nvSpPr>
        <p:spPr>
          <a:xfrm xmlns:a="http://schemas.openxmlformats.org/drawingml/2006/main">
            <a:off x="685800" y="1609725"/>
            <a:ext cx="10820400"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400" b="0">
                <a:solidFill>
                  <a:srgbClr val="142235"/>
                </a:solidFill>
                <a:latin typeface="Arial"/>
                <a:ea typeface="Arial"/>
                <a:cs typeface="Arial"/>
              </a:defRPr>
            </a:pPr>
            <a:r>
              <a:rPr sz="2400" b="0">
                <a:solidFill>
                  <a:srgbClr val="142235"/>
                </a:solidFill>
                <a:latin typeface="Arial"/>
                <a:ea typeface="Arial"/>
                <a:cs typeface="Arial"/>
              </a:rPr>
              <a:t>Confirm an unused final evaluation period</a:t>
            </a:r>
          </a:p>
          <a:p xmlns:a="http://schemas.openxmlformats.org/drawingml/2006/main">
            <a:pPr marL="254000" indent="-127000">
              <a:spcAft>
                <a:spcPts val="1800"/>
              </a:spcAft>
              <a:buChar char="•"/>
              <a:defRPr sz="2400" b="0">
                <a:solidFill>
                  <a:srgbClr val="142235"/>
                </a:solidFill>
                <a:latin typeface="Arial"/>
                <a:ea typeface="Arial"/>
                <a:cs typeface="Arial"/>
              </a:defRPr>
            </a:pPr>
            <a:r>
              <a:rPr sz="2400" b="0">
                <a:solidFill>
                  <a:srgbClr val="142235"/>
                </a:solidFill>
                <a:latin typeface="Arial"/>
                <a:ea typeface="Arial"/>
                <a:cs typeface="Arial"/>
              </a:rPr>
              <a:t>Register the next feature experiment before fitting</a:t>
            </a:r>
          </a:p>
          <a:p xmlns:a="http://schemas.openxmlformats.org/drawingml/2006/main">
            <a:pPr marL="254000" indent="-127000">
              <a:spcAft>
                <a:spcPts val="1800"/>
              </a:spcAft>
              <a:buChar char="•"/>
              <a:defRPr sz="2400" b="0">
                <a:solidFill>
                  <a:srgbClr val="142235"/>
                </a:solidFill>
                <a:latin typeface="Arial"/>
                <a:ea typeface="Arial"/>
                <a:cs typeface="Arial"/>
              </a:defRPr>
            </a:pPr>
            <a:r>
              <a:rPr sz="2400" b="0">
                <a:solidFill>
                  <a:srgbClr val="142235"/>
                </a:solidFill>
                <a:latin typeface="Arial"/>
                <a:ea typeface="Arial"/>
                <a:cs typeface="Arial"/>
              </a:rPr>
              <a:t>Evaluate a fixed trading strategy after realistic costs</a:t>
            </a:r>
          </a:p>
          <a:p xmlns:a="http://schemas.openxmlformats.org/drawingml/2006/main">
            <a:pPr marL="254000" indent="-127000">
              <a:spcAft>
                <a:spcPts val="1800"/>
              </a:spcAft>
              <a:buChar char="•"/>
              <a:defRPr sz="2400" b="0">
                <a:solidFill>
                  <a:srgbClr val="142235"/>
                </a:solidFill>
                <a:latin typeface="Arial"/>
                <a:ea typeface="Arial"/>
                <a:cs typeface="Arial"/>
              </a:defRPr>
            </a:pPr>
            <a:r>
              <a:rPr sz="2400" b="0">
                <a:solidFill>
                  <a:srgbClr val="142235"/>
                </a:solidFill>
                <a:latin typeface="Arial"/>
                <a:ea typeface="Arial"/>
                <a:cs typeface="Arial"/>
              </a:rPr>
              <a:t>Collect forward outcomes and test user understanding</a:t>
            </a:r>
          </a:p>
        </p:txBody>
      </p:sp>
      <p:sp>
        <p:nvSpPr>
          <p:cNvPr id="4" name="">
            <a:extLst xmlns:a="http://schemas.openxmlformats.org/drawingml/2006/main">
              <a:ext uri="{FF2B5EF4-FFF2-40B4-BE49-F238E27FC236}">
                <a16:creationId xmlns:a16="http://schemas.microsoft.com/office/drawing/2014/main" id="{9165F3A3-C7DB-4D02-B342-FB1DB94A1162}"/>
              </a:ext>
            </a:extLst>
          </p:cNvPr>
          <p:cNvSpPr>
            <a:spLocks xmlns:a="http://schemas.openxmlformats.org/drawingml/2006/main" noGrp="1"/>
          </p:cNvSpPr>
          <p:nvPr/>
        </p:nvSpPr>
        <p:spPr>
          <a:xfrm xmlns:a="http://schemas.openxmlformats.org/drawingml/2006/main">
            <a:off x="685800" y="5581650"/>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8611B"/>
                </a:solidFill>
                <a:latin typeface="Arial"/>
                <a:ea typeface="Arial"/>
                <a:cs typeface="Arial"/>
              </a:defRPr>
            </a:pPr>
            <a:r>
              <a:rPr sz="1800" b="0">
                <a:solidFill>
                  <a:srgbClr val="98611B"/>
                </a:solidFill>
                <a:latin typeface="Arial"/>
                <a:ea typeface="Arial"/>
                <a:cs typeface="Arial"/>
              </a:rPr>
              <a:t>Prediction gains, live profitability and user benefit still need evidence.</a:t>
            </a:r>
          </a:p>
        </p:txBody>
      </p:sp>
    </p:spTree>
    <p:extLst>
      <p:ext uri="{BB962C8B-B14F-4D97-AF65-F5344CB8AC3E}">
        <p14:creationId xmlns:p14="http://schemas.microsoft.com/office/powerpoint/2010/main" val="192185587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FA930F-E26A-4938-9FB5-6C253427E9F8}"/>
              </a:ext>
            </a:extLst>
          </p:cNvPr>
          <p:cNvSpPr>
            <a:spLocks xmlns:a="http://schemas.openxmlformats.org/drawingml/2006/main" noGrp="1"/>
          </p:cNvSpPr>
          <p:nvPr/>
        </p:nvSpPr>
        <p:spPr>
          <a:xfrm xmlns:a="http://schemas.openxmlformats.org/drawingml/2006/main">
            <a:off x="685800" y="4191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Demonstration and supervisor discussion</a:t>
            </a:r>
          </a:p>
        </p:txBody>
      </p:sp>
      <p:sp>
        <p:nvSpPr>
          <p:cNvPr id="2" name="">
            <a:extLst xmlns:a="http://schemas.openxmlformats.org/drawingml/2006/main">
              <a:ext uri="{FF2B5EF4-FFF2-40B4-BE49-F238E27FC236}">
                <a16:creationId xmlns:a16="http://schemas.microsoft.com/office/drawing/2014/main" id="{3E2893C7-C0AE-444E-9DF6-6621FEFFF026}"/>
              </a:ext>
            </a:extLst>
          </p:cNvPr>
          <p:cNvSpPr>
            <a:spLocks xmlns:a="http://schemas.openxmlformats.org/drawingml/2006/main" noGrp="1"/>
          </p:cNvSpPr>
          <p:nvPr/>
        </p:nvSpPr>
        <p:spPr>
          <a:xfrm xmlns:a="http://schemas.openxmlformats.org/drawingml/2006/main">
            <a:off x="10953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73"/>
                </a:solidFill>
                <a:latin typeface="Arial"/>
                <a:ea typeface="Arial"/>
                <a:cs typeface="Arial"/>
              </a:defRPr>
            </a:pPr>
            <a:r>
              <a:rPr sz="1200" b="0">
                <a:solidFill>
                  <a:srgbClr val="526173"/>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C1C6D13D-BF12-4CE9-944C-C8898FBD46AD}"/>
              </a:ext>
            </a:extLst>
          </p:cNvPr>
          <p:cNvSpPr>
            <a:spLocks xmlns:a="http://schemas.openxmlformats.org/drawingml/2006/main" noGrp="1"/>
          </p:cNvSpPr>
          <p:nvPr/>
        </p:nvSpPr>
        <p:spPr>
          <a:xfrm xmlns:a="http://schemas.openxmlformats.org/drawingml/2006/main">
            <a:off x="685800" y="1704975"/>
            <a:ext cx="10820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800"/>
              </a:spcAft>
              <a:buChar char="•"/>
              <a:defRPr sz="2400" b="0">
                <a:solidFill>
                  <a:srgbClr val="142235"/>
                </a:solidFill>
                <a:latin typeface="Arial"/>
                <a:ea typeface="Arial"/>
                <a:cs typeface="Arial"/>
              </a:defRPr>
            </a:pPr>
            <a:r>
              <a:rPr sz="2400" b="0">
                <a:solidFill>
                  <a:srgbClr val="142235"/>
                </a:solidFill>
                <a:latin typeface="Arial"/>
                <a:ea typeface="Arial"/>
                <a:cs typeface="Arial"/>
              </a:rPr>
              <a:t>Demo: native XAI and the repaired chatbot</a:t>
            </a:r>
          </a:p>
          <a:p xmlns:a="http://schemas.openxmlformats.org/drawingml/2006/main">
            <a:pPr marL="254000" indent="-127000">
              <a:spcAft>
                <a:spcPts val="1800"/>
              </a:spcAft>
              <a:buChar char="•"/>
              <a:defRPr sz="2400" b="0">
                <a:solidFill>
                  <a:srgbClr val="142235"/>
                </a:solidFill>
                <a:latin typeface="Arial"/>
                <a:ea typeface="Arial"/>
                <a:cs typeface="Arial"/>
              </a:defRPr>
            </a:pPr>
            <a:r>
              <a:rPr sz="2400" b="0">
                <a:solidFill>
                  <a:srgbClr val="142235"/>
                </a:solidFill>
                <a:latin typeface="Arial"/>
                <a:ea typeface="Arial"/>
                <a:cs typeface="Arial"/>
              </a:rPr>
              <a:t>Show finance-study evidence and backtest consistency</a:t>
            </a:r>
          </a:p>
          <a:p xmlns:a="http://schemas.openxmlformats.org/drawingml/2006/main">
            <a:pPr marL="254000" indent="-127000">
              <a:spcAft>
                <a:spcPts val="1800"/>
              </a:spcAft>
              <a:buChar char="•"/>
              <a:defRPr sz="2400" b="0">
                <a:solidFill>
                  <a:srgbClr val="142235"/>
                </a:solidFill>
                <a:latin typeface="Arial"/>
                <a:ea typeface="Arial"/>
                <a:cs typeface="Arial"/>
              </a:defRPr>
            </a:pPr>
            <a:r>
              <a:rPr sz="2400" b="0">
                <a:solidFill>
                  <a:srgbClr val="142235"/>
                </a:solidFill>
                <a:latin typeface="Arial"/>
                <a:ea typeface="Arial"/>
                <a:cs typeface="Arial"/>
              </a:rPr>
              <a:t>Agree on final evaluation and user-testing criteria</a:t>
            </a:r>
          </a:p>
        </p:txBody>
      </p:sp>
      <p:sp>
        <p:nvSpPr>
          <p:cNvPr id="4" name="">
            <a:extLst xmlns:a="http://schemas.openxmlformats.org/drawingml/2006/main">
              <a:ext uri="{FF2B5EF4-FFF2-40B4-BE49-F238E27FC236}">
                <a16:creationId xmlns:a16="http://schemas.microsoft.com/office/drawing/2014/main" id="{4C20F4E6-7FE0-41BC-A33F-9627238EAADE}"/>
              </a:ext>
            </a:extLst>
          </p:cNvPr>
          <p:cNvSpPr>
            <a:spLocks xmlns:a="http://schemas.openxmlformats.org/drawingml/2006/main" noGrp="1"/>
          </p:cNvSpPr>
          <p:nvPr/>
        </p:nvSpPr>
        <p:spPr>
          <a:xfrm xmlns:a="http://schemas.openxmlformats.org/drawingml/2006/main">
            <a:off x="685800" y="48577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235"/>
                </a:solidFill>
                <a:latin typeface="Arial"/>
                <a:ea typeface="Arial"/>
                <a:cs typeface="Arial"/>
              </a:defRPr>
            </a:pPr>
            <a:r>
              <a:rPr sz="2025" b="1">
                <a:solidFill>
                  <a:srgbClr val="142235"/>
                </a:solidFill>
                <a:latin typeface="Arial"/>
                <a:ea typeface="Arial"/>
                <a:cs typeface="Arial"/>
              </a:rPr>
              <a:t>Live website</a:t>
            </a:r>
          </a:p>
        </p:txBody>
      </p:sp>
      <p:sp>
        <p:nvSpPr>
          <p:cNvPr id="5" name="">
            <a:extLst xmlns:a="http://schemas.openxmlformats.org/drawingml/2006/main">
              <a:ext uri="{FF2B5EF4-FFF2-40B4-BE49-F238E27FC236}">
                <a16:creationId xmlns:a16="http://schemas.microsoft.com/office/drawing/2014/main" id="{33EF89D1-4362-474E-B890-4F6BA5CCD06E}"/>
              </a:ext>
            </a:extLst>
          </p:cNvPr>
          <p:cNvSpPr>
            <a:spLocks xmlns:a="http://schemas.openxmlformats.org/drawingml/2006/main" noGrp="1"/>
          </p:cNvSpPr>
          <p:nvPr/>
        </p:nvSpPr>
        <p:spPr>
          <a:xfrm xmlns:a="http://schemas.openxmlformats.org/drawingml/2006/main">
            <a:off x="4219575" y="4857750"/>
            <a:ext cx="728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087E8B"/>
                </a:solidFill>
                <a:latin typeface="Arial"/>
                <a:ea typeface="Arial"/>
                <a:cs typeface="Arial"/>
              </a:defRPr>
            </a:pPr>
            <a:r>
              <a:rPr sz="2025" b="0">
                <a:solidFill>
                  <a:srgbClr val="087E8B"/>
                </a:solidFill>
                <a:latin typeface="Arial"/>
                <a:ea typeface="Arial"/>
                <a:cs typeface="Arial"/>
              </a:rPr>
              <a:t>https://quantsight.vercel.app</a:t>
            </a:r>
          </a:p>
        </p:txBody>
      </p:sp>
      <p:sp>
        <p:nvSpPr>
          <p:cNvPr id="6" name="">
            <a:extLst xmlns:a="http://schemas.openxmlformats.org/drawingml/2006/main">
              <a:ext uri="{FF2B5EF4-FFF2-40B4-BE49-F238E27FC236}">
                <a16:creationId xmlns:a16="http://schemas.microsoft.com/office/drawing/2014/main" id="{A6165845-84CD-4E02-85BD-C61560305FC3}"/>
              </a:ext>
            </a:extLst>
          </p:cNvPr>
          <p:cNvSpPr>
            <a:spLocks xmlns:a="http://schemas.openxmlformats.org/drawingml/2006/main" noGrp="1"/>
          </p:cNvSpPr>
          <p:nvPr/>
        </p:nvSpPr>
        <p:spPr>
          <a:xfrm xmlns:a="http://schemas.openxmlformats.org/drawingml/2006/main">
            <a:off x="685800" y="54673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235"/>
                </a:solidFill>
                <a:latin typeface="Arial"/>
                <a:ea typeface="Arial"/>
                <a:cs typeface="Arial"/>
              </a:defRPr>
            </a:pPr>
            <a:r>
              <a:rPr sz="2025" b="1">
                <a:solidFill>
                  <a:srgbClr val="142235"/>
                </a:solidFill>
                <a:latin typeface="Arial"/>
                <a:ea typeface="Arial"/>
                <a:cs typeface="Arial"/>
              </a:rPr>
              <a:t>Local backup</a:t>
            </a:r>
          </a:p>
        </p:txBody>
      </p:sp>
      <p:sp>
        <p:nvSpPr>
          <p:cNvPr id="7" name="">
            <a:extLst xmlns:a="http://schemas.openxmlformats.org/drawingml/2006/main">
              <a:ext uri="{FF2B5EF4-FFF2-40B4-BE49-F238E27FC236}">
                <a16:creationId xmlns:a16="http://schemas.microsoft.com/office/drawing/2014/main" id="{04830F57-6358-43E6-A9B6-1DB4D506E0FE}"/>
              </a:ext>
            </a:extLst>
          </p:cNvPr>
          <p:cNvSpPr>
            <a:spLocks xmlns:a="http://schemas.openxmlformats.org/drawingml/2006/main" noGrp="1"/>
          </p:cNvSpPr>
          <p:nvPr/>
        </p:nvSpPr>
        <p:spPr>
          <a:xfrm xmlns:a="http://schemas.openxmlformats.org/drawingml/2006/main">
            <a:off x="4219575" y="5467350"/>
            <a:ext cx="728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087E8B"/>
                </a:solidFill>
                <a:latin typeface="Arial"/>
                <a:ea typeface="Arial"/>
                <a:cs typeface="Arial"/>
              </a:defRPr>
            </a:pPr>
            <a:r>
              <a:rPr sz="2025" b="0">
                <a:solidFill>
                  <a:srgbClr val="087E8B"/>
                </a:solidFill>
                <a:latin typeface="Arial"/>
                <a:ea typeface="Arial"/>
                <a:cs typeface="Arial"/>
              </a:rPr>
              <a:t>http://127.0.0.1:3000</a:t>
            </a:r>
          </a:p>
        </p:txBody>
      </p:sp>
    </p:spTree>
    <p:extLst>
      <p:ext uri="{BB962C8B-B14F-4D97-AF65-F5344CB8AC3E}">
        <p14:creationId xmlns:p14="http://schemas.microsoft.com/office/powerpoint/2010/main" val="20000022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2026-10-06T14:24:32.7830000Z</dcterms:created>
  <dcterms:modified xsi:type="dcterms:W3CDTF">2026-10-06T14:24:32.7830000Z</dcterms:modified>
</coreProperties>
</file>